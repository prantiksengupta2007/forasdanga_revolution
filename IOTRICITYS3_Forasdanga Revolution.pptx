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sldIdLst>
    <p:sldId id="256" r:id="rId2"/>
    <p:sldId id="262" r:id="rId3"/>
    <p:sldId id="257" r:id="rId4"/>
    <p:sldId id="263" r:id="rId5"/>
    <p:sldId id="258" r:id="rId6"/>
    <p:sldId id="260" r:id="rId7"/>
    <p:sldId id="261" r:id="rId8"/>
    <p:sldId id="25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252"/>
    <a:srgbClr val="828282"/>
    <a:srgbClr val="2727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dirty="0"/>
              <a:t>9/28/2026</a:t>
            </a:fld>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dirty="0"/>
              <a:t>‹#›</a:t>
            </a:fld>
            <a:endParaRPr lang="en-US"/>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8176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2ABAD28B-DD56-4B56-883A-96608C765E28}" type="datetimeFigureOut">
              <a:rPr lang="en-US" dirty="0"/>
              <a:t>9/28/2026</a:t>
            </a:fld>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DF5BAF5-ABAB-4575-8E56-D109A3D17F9F}" type="slidenum">
              <a:rPr lang="en-US" dirty="0"/>
              <a:t>‹#›</a:t>
            </a:fld>
            <a:endParaRPr lang="en-US"/>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6632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noChangeAspect="1"/>
          </p:cNvSpPr>
          <p:nvPr>
            <p:ph type="pic" sz="quarter" idx="13" hasCustomPrompt="1"/>
          </p:nvPr>
        </p:nvSpPr>
        <p:spPr>
          <a:xfrm>
            <a:off x="0" y="1"/>
            <a:ext cx="12191999" cy="4467828"/>
          </a:xfrm>
          <a:blipFill dpi="0" rotWithShape="1">
            <a:blip r:embed="rId2">
              <a:alphaModFix amt="60000"/>
            </a:blip>
            <a:srcRect/>
            <a:stretch>
              <a:fillRect/>
            </a:stretch>
          </a:blipFill>
        </p:spPr>
        <p:txBody>
          <a:bodyPr anchor="t"/>
          <a:lstStyle>
            <a:lvl1pPr marL="0" indent="0">
              <a:buNone/>
              <a:defRPr/>
            </a:lvl1pPr>
          </a:lstStyle>
          <a:p>
            <a:endParaRP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US"/>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dirty="0"/>
              <a:pPr/>
              <a:t>9/28/2026</a:t>
            </a:fld>
            <a:endParaRPr lang="en-US"/>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7DF5BAF5-ABAB-4575-8E56-D109A3D17F9F}" type="slidenum">
              <a:rPr lang="en-US" dirty="0"/>
              <a:pPr/>
              <a:t>‹#›</a:t>
            </a:fld>
            <a:endParaRPr lang="en-US"/>
          </a:p>
        </p:txBody>
      </p:sp>
    </p:spTree>
    <p:extLst>
      <p:ext uri="{BB962C8B-B14F-4D97-AF65-F5344CB8AC3E}">
        <p14:creationId xmlns:p14="http://schemas.microsoft.com/office/powerpoint/2010/main" val="13808679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noChangeAspect="1"/>
          </p:cNvSpPr>
          <p:nvPr>
            <p:ph type="pic" sz="quarter" idx="14" hasCustomPrompt="1"/>
          </p:nvPr>
        </p:nvSpPr>
        <p:spPr>
          <a:xfrm>
            <a:off x="0" y="0"/>
            <a:ext cx="7617785" cy="6858000"/>
          </a:xfrm>
          <a:custGeom>
            <a:avLst/>
            <a:gdLst/>
            <a:ahLst/>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r>
              <a:rPr lang="en-US"/>
              <a:t>
              </a:t>
            </a:r>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fld id="{2ABAD28B-DD56-4B56-883A-96608C765E28}" type="datetimeFigureOut">
              <a:rPr lang="en-US" dirty="0"/>
              <a:pPr/>
              <a:t>9/28/2026</a:t>
            </a:fld>
            <a:endParaRPr lang="en-US"/>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AEAA3239-9EA4-4A65-A281-97F994456D9F}" type="slidenum">
              <a:rPr lang="en-US" dirty="0"/>
              <a:t>‹#›</a:t>
            </a:fld>
            <a:endParaRPr lang="en-US"/>
          </a:p>
        </p:txBody>
      </p:sp>
    </p:spTree>
    <p:extLst>
      <p:ext uri="{BB962C8B-B14F-4D97-AF65-F5344CB8AC3E}">
        <p14:creationId xmlns:p14="http://schemas.microsoft.com/office/powerpoint/2010/main" val="280588678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dirty="0"/>
              <a:pPr/>
              <a:t>9/28/2026</a:t>
            </a:fld>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dirty="0"/>
              <a:pPr/>
              <a:t>‹#›</a:t>
            </a:fld>
            <a:endParaRPr lang="en-US"/>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6274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FigureOut">
              <a:rPr lang="en-US" dirty="0"/>
              <a:t>9/28/2026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dirty="0"/>
              <a:t>‹#›</a:t>
            </a:fld>
            <a:endParaRPr lang="en-US"/>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123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r>
              <a:rPr lang="en-US"/>
              <a:t>
              </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8A60B404-9532-4DA8-8A40-EC339A5BE635}" type="datetimeFigureOut">
              <a:rPr lang="en-US" dirty="0"/>
              <a:t>9/28/2026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CC057153-B650-4DEB-B370-79DDCFDCE934}" type="slidenum">
              <a:rPr lang="en-US" dirty="0"/>
              <a:t>‹#›</a:t>
            </a:fld>
            <a:endParaRPr lang="en-US"/>
          </a:p>
        </p:txBody>
      </p:sp>
      <p:sp>
        <p:nvSpPr>
          <p:cNvPr id="6" name="Picture Placeholder 10">
            <a:extLst>
              <a:ext uri="{FF2B5EF4-FFF2-40B4-BE49-F238E27FC236}">
                <a16:creationId xmlns:a16="http://schemas.microsoft.com/office/drawing/2014/main" id="{E4B52E79-E470-1B1A-EADF-94DA7253B328}"/>
              </a:ext>
            </a:extLst>
          </p:cNvPr>
          <p:cNvSpPr>
            <a:spLocks noGrp="1" noChangeAspect="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nchor="t"/>
          <a:lstStyle>
            <a:lvl1pPr>
              <a:defRPr/>
            </a:lvl1pPr>
          </a:lstStyle>
          <a:p>
            <a:endParaRP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0185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FigureOut">
              <a:rPr lang="en-US" dirty="0"/>
              <a:t>9/28/2026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dirty="0"/>
              <a:t>‹#›</a:t>
            </a:fld>
            <a:endParaRPr lang="en-US"/>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950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FigureOut">
              <a:rPr lang="en-US" dirty="0"/>
              <a:t>9/28/2026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dirty="0"/>
              <a:t>‹#›</a:t>
            </a:fld>
            <a:endParaRPr lang="en-US"/>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9861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a:t>Click to edit Master title style</a:t>
            </a:r>
          </a:p>
        </p:txBody>
      </p:sp>
      <p:sp>
        <p:nvSpPr>
          <p:cNvPr id="6" name="Picture Placeholder 10">
            <a:extLst>
              <a:ext uri="{FF2B5EF4-FFF2-40B4-BE49-F238E27FC236}">
                <a16:creationId xmlns:a16="http://schemas.microsoft.com/office/drawing/2014/main" id="{6FB7CB50-241E-E6B6-1C0E-1B5466B14779}"/>
              </a:ext>
            </a:extLst>
          </p:cNvPr>
          <p:cNvSpPr>
            <a:spLocks noGrp="1" noChangeAspect="1"/>
          </p:cNvSpPr>
          <p:nvPr>
            <p:ph type="pic" sz="quarter" idx="13" hasCustomPrompt="1"/>
          </p:nvPr>
        </p:nvSpPr>
        <p:spPr>
          <a:xfrm>
            <a:off x="12192" y="0"/>
            <a:ext cx="4506585" cy="6858000"/>
          </a:xfrm>
          <a:blipFill dpi="0" rotWithShape="1">
            <a:blip r:embed="rId2">
              <a:alphaModFix amt="60000"/>
            </a:blip>
            <a:srcRect/>
            <a:stretch>
              <a:fillRect/>
            </a:stretch>
          </a:blipFill>
        </p:spPr>
        <p:txBody>
          <a:bodyPr anchor="t"/>
          <a:lstStyle>
            <a:lvl1pPr marL="0" indent="0">
              <a:buNone/>
              <a:defRPr/>
            </a:lvl1pPr>
          </a:lstStyle>
          <a:p>
            <a:endParaRP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r>
              <a:rPr lang="en-US"/>
              <a:t>
              </a:t>
            </a:r>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fld id="{2ABAD28B-DD56-4B56-883A-96608C765E28}" type="datetimeFigureOut">
              <a:rPr lang="en-US" dirty="0"/>
              <a:pPr/>
              <a:t>9/28/2026</a:t>
            </a:fld>
            <a:endParaRPr lang="en-US"/>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AEAA3239-9EA4-4A65-A281-97F994456D9F}" type="slidenum">
              <a:rPr lang="en-US" dirty="0"/>
              <a:t>‹#›</a:t>
            </a:fld>
            <a:endParaRPr lang="en-US"/>
          </a:p>
        </p:txBody>
      </p:sp>
    </p:spTree>
    <p:extLst>
      <p:ext uri="{BB962C8B-B14F-4D97-AF65-F5344CB8AC3E}">
        <p14:creationId xmlns:p14="http://schemas.microsoft.com/office/powerpoint/2010/main" val="3572392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p>
        </p:txBody>
      </p:sp>
      <p:sp>
        <p:nvSpPr>
          <p:cNvPr id="15" name="Picture Placeholder 10">
            <a:extLst>
              <a:ext uri="{FF2B5EF4-FFF2-40B4-BE49-F238E27FC236}">
                <a16:creationId xmlns:a16="http://schemas.microsoft.com/office/drawing/2014/main" id="{5189CF27-6D02-DB0D-F5D1-1535F1479166}"/>
              </a:ext>
            </a:extLst>
          </p:cNvPr>
          <p:cNvSpPr>
            <a:spLocks noGrp="1" noChangeAspect="1"/>
          </p:cNvSpPr>
          <p:nvPr>
            <p:ph type="pic" sz="quarter" idx="19" hasCustomPrompt="1"/>
          </p:nvPr>
        </p:nvSpPr>
        <p:spPr>
          <a:xfrm>
            <a:off x="0" y="0"/>
            <a:ext cx="3526439" cy="6858000"/>
          </a:xfrm>
          <a:blipFill dpi="0" rotWithShape="1">
            <a:blip r:embed="rId2">
              <a:alphaModFix amt="60000"/>
            </a:blip>
            <a:srcRect/>
            <a:stretch>
              <a:fillRect/>
            </a:stretch>
          </a:blipFill>
        </p:spPr>
        <p:txBody>
          <a:bodyPr anchor="t"/>
          <a:lstStyle>
            <a:lvl1pPr marL="0" indent="0">
              <a:buNone/>
              <a:defRPr/>
            </a:lvl1pPr>
          </a:lstStyle>
          <a:p>
            <a:endParaRP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r>
              <a:rPr lang="en-US"/>
              <a:t>
              </a:t>
            </a:r>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fld id="{2ABAD28B-DD56-4B56-883A-96608C765E28}" type="datetimeFigureOut">
              <a:rPr lang="en-US" dirty="0"/>
              <a:pPr/>
              <a:t>9/28/2026</a:t>
            </a:fld>
            <a:endParaRPr lang="en-US"/>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AEAA3239-9EA4-4A65-A281-97F994456D9F}" type="slidenum">
              <a:rPr lang="en-US" dirty="0"/>
              <a:t>‹#›</a:t>
            </a:fld>
            <a:endParaRPr lang="en-US"/>
          </a:p>
        </p:txBody>
      </p:sp>
    </p:spTree>
    <p:extLst>
      <p:ext uri="{BB962C8B-B14F-4D97-AF65-F5344CB8AC3E}">
        <p14:creationId xmlns:p14="http://schemas.microsoft.com/office/powerpoint/2010/main" val="23976797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r>
              <a:rPr lang="en-US"/>
              <a:t>
              </a:t>
            </a:r>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fld id="{2ABAD28B-DD56-4B56-883A-96608C765E28}" type="datetimeFigureOut">
              <a:rPr lang="en-US" dirty="0"/>
              <a:pPr/>
              <a:t>9/28/2026</a:t>
            </a:fld>
            <a:endParaRPr lang="en-US"/>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AEAA3239-9EA4-4A65-A281-97F994456D9F}" type="slidenum">
              <a:rPr lang="en-US" dirty="0"/>
              <a:t>‹#›</a:t>
            </a:fld>
            <a:endParaRPr lang="en-US"/>
          </a:p>
        </p:txBody>
      </p:sp>
      <p:sp>
        <p:nvSpPr>
          <p:cNvPr id="12" name="Picture Placeholder 10">
            <a:extLst>
              <a:ext uri="{FF2B5EF4-FFF2-40B4-BE49-F238E27FC236}">
                <a16:creationId xmlns:a16="http://schemas.microsoft.com/office/drawing/2014/main" id="{61964118-5CFA-FFA8-E19F-A107D63DDC08}"/>
              </a:ext>
            </a:extLst>
          </p:cNvPr>
          <p:cNvSpPr>
            <a:spLocks noGrp="1" noChangeAspect="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28334119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r>
              <a:rPr lang="en-US"/>
              <a:t>
              </a:t>
            </a:r>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fld id="{2ABAD28B-DD56-4B56-883A-96608C765E28}" type="datetimeFigureOut">
              <a:rPr lang="en-US" dirty="0"/>
              <a:pPr/>
              <a:t>9/28/2026</a:t>
            </a:fld>
            <a:endParaRPr lang="en-US"/>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AEAA3239-9EA4-4A65-A281-97F994456D9F}" type="slidenum">
              <a:rPr lang="en-US" dirty="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282950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r>
              <a:rPr lang="en-US"/>
              <a:t>
              </a:t>
            </a:r>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2ABAD28B-DD56-4B56-883A-96608C765E28}" type="datetimeFigureOut">
              <a:rPr lang="en-US" dirty="0"/>
              <a:pPr/>
              <a:t>9/28/2026</a:t>
            </a:fld>
            <a:endParaRPr lang="en-US"/>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AEAA3239-9EA4-4A65-A281-97F994456D9F}" type="slidenum">
              <a:rPr lang="en-US" dirty="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9469138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a:t>Click to edit Master title style</a:t>
            </a:r>
          </a:p>
        </p:txBody>
      </p:sp>
      <p:sp>
        <p:nvSpPr>
          <p:cNvPr id="2" name="Picture Placeholder 9">
            <a:extLst>
              <a:ext uri="{FF2B5EF4-FFF2-40B4-BE49-F238E27FC236}">
                <a16:creationId xmlns:a16="http://schemas.microsoft.com/office/drawing/2014/main" id="{2A43D9F3-C10E-5B48-BB59-16A8600BD36F}"/>
              </a:ext>
            </a:extLst>
          </p:cNvPr>
          <p:cNvSpPr>
            <a:spLocks noGrp="1" noChangeAspect="1"/>
          </p:cNvSpPr>
          <p:nvPr>
            <p:ph type="pic" sz="quarter" idx="13" hasCustomPrompt="1"/>
          </p:nvPr>
        </p:nvSpPr>
        <p:spPr>
          <a:xfrm>
            <a:off x="12192" y="0"/>
            <a:ext cx="7481777" cy="6858000"/>
          </a:xfrm>
          <a:custGeom>
            <a:avLst/>
            <a:gdLst/>
            <a:ahLst/>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r>
              <a:rPr lang="en-US"/>
              <a:t>
              </a:t>
            </a:r>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2ABAD28B-DD56-4B56-883A-96608C765E28}" type="datetimeFigureOut">
              <a:rPr lang="en-US" dirty="0"/>
              <a:pPr/>
              <a:t>9/28/2026</a:t>
            </a:fld>
            <a:endParaRPr lang="en-US"/>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AEAA3239-9EA4-4A65-A281-97F994456D9F}" type="slidenum">
              <a:rPr lang="en-US" dirty="0"/>
              <a:t>‹#›</a:t>
            </a:fld>
            <a:endParaRPr lang="en-US"/>
          </a:p>
        </p:txBody>
      </p:sp>
    </p:spTree>
    <p:extLst>
      <p:ext uri="{BB962C8B-B14F-4D97-AF65-F5344CB8AC3E}">
        <p14:creationId xmlns:p14="http://schemas.microsoft.com/office/powerpoint/2010/main" val="2484980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1" y="0"/>
            <a:ext cx="12192000" cy="3443331"/>
          </a:xfrm>
          <a:blipFill dpi="0" rotWithShape="1">
            <a:blip r:embed="rId2">
              <a:alphaModFix amt="60000"/>
            </a:blip>
            <a:srcRect/>
            <a:stretch>
              <a:fillRect/>
            </a:stretch>
          </a:blipFill>
        </p:spPr>
        <p:txBody>
          <a:bodyPr anchor="t"/>
          <a:lstStyle>
            <a:lvl1pPr marL="0" indent="0">
              <a:buNone/>
              <a:defRPr/>
            </a:lvl1pPr>
          </a:lstStyle>
          <a:p>
            <a:endParaRP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2ABAD28B-DD56-4B56-883A-96608C765E28}" type="datetimeFigureOut">
              <a:rPr lang="en-US" dirty="0"/>
              <a:pPr/>
              <a:t>9/28/2026</a:t>
            </a:fld>
            <a:endParaRPr lang="en-US"/>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7DF5BAF5-ABAB-4575-8E56-D109A3D17F9F}" type="slidenum">
              <a:rPr lang="en-US" dirty="0"/>
              <a:pPr/>
              <a:t>‹#›</a:t>
            </a:fld>
            <a:endParaRPr lang="en-US"/>
          </a:p>
        </p:txBody>
      </p:sp>
    </p:spTree>
    <p:extLst>
      <p:ext uri="{BB962C8B-B14F-4D97-AF65-F5344CB8AC3E}">
        <p14:creationId xmlns:p14="http://schemas.microsoft.com/office/powerpoint/2010/main" val="33286021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1" y="2286008"/>
            <a:ext cx="6096000" cy="4571992"/>
          </a:xfrm>
          <a:custGeom>
            <a:avLst/>
            <a:gdLst/>
            <a:ahLst/>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chor="t">
            <a:noAutofit/>
          </a:bodyPr>
          <a:lstStyle>
            <a:lvl1pPr>
              <a:defRPr lang="en-US" dirty="0"/>
            </a:lvl1pPr>
          </a:lstStyle>
          <a:p>
            <a:pPr marL="0" lvl="0" indent="0">
              <a:buNone/>
            </a:pPr>
            <a:endParaRP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endParaRPr lang="en-US"/>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2ABAD28B-DD56-4B56-883A-96608C765E28}" type="datetimeFigureOut">
              <a:rPr lang="en-US" dirty="0"/>
              <a:pPr/>
              <a:t>9/28/2026</a:t>
            </a:fld>
            <a:endParaRPr lang="en-US"/>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7DF5BAF5-ABAB-4575-8E56-D109A3D17F9F}" type="slidenum">
              <a:rPr lang="en-US" dirty="0"/>
              <a:pPr/>
              <a:t>‹#›</a:t>
            </a:fld>
            <a:endParaRPr lang="en-US"/>
          </a:p>
        </p:txBody>
      </p:sp>
    </p:spTree>
    <p:extLst>
      <p:ext uri="{BB962C8B-B14F-4D97-AF65-F5344CB8AC3E}">
        <p14:creationId xmlns:p14="http://schemas.microsoft.com/office/powerpoint/2010/main" val="208366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a:t>Click to edit Master title style</a:t>
            </a:r>
          </a:p>
        </p:txBody>
      </p:sp>
      <p:sp>
        <p:nvSpPr>
          <p:cNvPr id="9" name="Picture Placeholder 10">
            <a:extLst>
              <a:ext uri="{FF2B5EF4-FFF2-40B4-BE49-F238E27FC236}">
                <a16:creationId xmlns:a16="http://schemas.microsoft.com/office/drawing/2014/main" id="{9ADE1102-BF4C-FC7C-22F6-B8453DE3B195}"/>
              </a:ext>
            </a:extLst>
          </p:cNvPr>
          <p:cNvSpPr>
            <a:spLocks noGrp="1" noChangeAspect="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nchor="t"/>
          <a:lstStyle>
            <a:lvl1pPr marL="0" indent="0">
              <a:buNone/>
              <a:defRPr/>
            </a:lvl1pPr>
          </a:lstStyle>
          <a:p>
            <a:endParaRP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FigureOut">
              <a:rPr lang="en-US" dirty="0"/>
              <a:t>9/28/2026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43764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FigureOut">
              <a:rPr lang="en-US" dirty="0"/>
              <a:pPr/>
              <a:t>9/28/2026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dirty="0"/>
              <a:pPr/>
              <a:t>‹#›</a:t>
            </a:fld>
            <a:endParaRPr lang="en-US"/>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69948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FigureOut">
              <a:rPr lang="en-US" dirty="0"/>
              <a:t>9/28/2026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dirty="0"/>
              <a:pPr/>
              <a:t>‹#›</a:t>
            </a:fld>
            <a:endParaRPr lang="en-US"/>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29693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FigureOut">
              <a:rPr lang="en-US" dirty="0"/>
              <a:t>9/28/2026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34586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2ABAD28B-DD56-4B56-883A-96608C765E28}" type="datetimeFigureOut">
              <a:rPr lang="en-US" dirty="0"/>
              <a:t>9/28/2026</a:t>
            </a:fld>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DF5BAF5-ABAB-4575-8E56-D109A3D17F9F}" type="slidenum">
              <a:rPr lang="en-US" dirty="0"/>
              <a:t>‹#›</a:t>
            </a:fld>
            <a:endParaRPr lang="en-US"/>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92438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2ABAD28B-DD56-4B56-883A-96608C765E28}" type="datetimeFigureOut">
              <a:rPr lang="en-US" dirty="0"/>
              <a:t>9/28/2026</a:t>
            </a:fld>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DF5BAF5-ABAB-4575-8E56-D109A3D17F9F}" type="slidenum">
              <a:rPr lang="en-US" dirty="0"/>
              <a:t>‹#›</a:t>
            </a:fld>
            <a:endParaRPr lang="en-US"/>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91788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a:t>Click to edit Master title style</a:t>
            </a:r>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2ABAD28B-DD56-4B56-883A-96608C765E28}" type="datetimeFigureOut">
              <a:rPr lang="en-US" dirty="0"/>
              <a:t>9/28/2026</a:t>
            </a:fld>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DF5BAF5-ABAB-4575-8E56-D109A3D17F9F}" type="slidenum">
              <a:rPr lang="en-US" dirty="0"/>
              <a:t>‹#›</a:t>
            </a:fld>
            <a:endParaRPr lang="en-US"/>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35543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2ABAD28B-DD56-4B56-883A-96608C765E28}" type="datetimeFigureOut">
              <a:rPr lang="en-US" dirty="0"/>
              <a:t>9/28/2026</a:t>
            </a:fld>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DF5BAF5-ABAB-4575-8E56-D109A3D17F9F}" type="slidenum">
              <a:rPr lang="en-US" dirty="0"/>
              <a:t>‹#›</a:t>
            </a:fld>
            <a:endParaRPr lang="en-US"/>
          </a:p>
        </p:txBody>
      </p:sp>
    </p:spTree>
    <p:extLst>
      <p:ext uri="{BB962C8B-B14F-4D97-AF65-F5344CB8AC3E}">
        <p14:creationId xmlns:p14="http://schemas.microsoft.com/office/powerpoint/2010/main" val="22817307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a:t>Click to edit Master title style</a:t>
            </a:r>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57987AA-E4E6-4FC1-BAD8-09A952212C58}" type="datetimeFigureOut">
              <a:rPr lang="en-US" dirty="0"/>
              <a:pPr/>
              <a:t>9/28/2026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8899840"/>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a:t>Click to edit Master title style</a:t>
            </a:r>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FigureOut">
              <a:rPr lang="en-US" dirty="0"/>
              <a:pPr/>
              <a:t>9/28/2026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335167"/>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18A3-5AB6-44DC-ED84-0F6C0017BF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4A4654-03A9-B9A0-0F48-ED5DD3B152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A9D61B-63CE-4893-C10D-D2A464484F48}"/>
              </a:ext>
            </a:extLst>
          </p:cNvPr>
          <p:cNvSpPr>
            <a:spLocks noGrp="1"/>
          </p:cNvSpPr>
          <p:nvPr>
            <p:ph type="dt" sz="half" idx="10"/>
          </p:nvPr>
        </p:nvSpPr>
        <p:spPr/>
        <p:txBody>
          <a:bodyPr/>
          <a:lstStyle/>
          <a:p>
            <a:fld id="{73ACBE7A-19C1-4D31-84F4-EBF0A78BB40D}" type="datetimeFigureOut">
              <a:rPr lang="en-IN" smtClean="0"/>
              <a:t>28-09-2026</a:t>
            </a:fld>
            <a:endParaRPr lang="en-IN"/>
          </a:p>
        </p:txBody>
      </p:sp>
      <p:sp>
        <p:nvSpPr>
          <p:cNvPr id="5" name="Footer Placeholder 4">
            <a:extLst>
              <a:ext uri="{FF2B5EF4-FFF2-40B4-BE49-F238E27FC236}">
                <a16:creationId xmlns:a16="http://schemas.microsoft.com/office/drawing/2014/main" id="{B81ADF4D-9A4A-B759-D5FE-F6243BB7FF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9E8A5E-09BE-E9C4-A6FD-AEC9F4F6D880}"/>
              </a:ext>
            </a:extLst>
          </p:cNvPr>
          <p:cNvSpPr>
            <a:spLocks noGrp="1"/>
          </p:cNvSpPr>
          <p:nvPr>
            <p:ph type="sldNum" sz="quarter" idx="12"/>
          </p:nvPr>
        </p:nvSpPr>
        <p:spPr/>
        <p:txBody>
          <a:bodyPr/>
          <a:lstStyle/>
          <a:p>
            <a:fld id="{C44D1521-6B9E-4E51-871A-50ADAD9B24C1}" type="slidenum">
              <a:rPr lang="en-IN" smtClean="0"/>
              <a:t>‹#›</a:t>
            </a:fld>
            <a:endParaRPr lang="en-IN"/>
          </a:p>
        </p:txBody>
      </p:sp>
    </p:spTree>
    <p:extLst>
      <p:ext uri="{BB962C8B-B14F-4D97-AF65-F5344CB8AC3E}">
        <p14:creationId xmlns:p14="http://schemas.microsoft.com/office/powerpoint/2010/main" val="2721939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endParaRPr lang="en-US"/>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fld id="{2ABAD28B-DD56-4B56-883A-96608C765E28}" type="datetimeFigureOut">
              <a:rPr lang="en-US" dirty="0"/>
              <a:pPr/>
              <a:t>9/28/2026</a:t>
            </a:fld>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7DF5BAF5-ABAB-4575-8E56-D109A3D17F9F}" type="slidenum">
              <a:rPr lang="en-US" dirty="0"/>
              <a:pPr/>
              <a:t>‹#›</a:t>
            </a:fld>
            <a:endParaRPr lang="en-US"/>
          </a:p>
        </p:txBody>
      </p:sp>
    </p:spTree>
    <p:extLst>
      <p:ext uri="{BB962C8B-B14F-4D97-AF65-F5344CB8AC3E}">
        <p14:creationId xmlns:p14="http://schemas.microsoft.com/office/powerpoint/2010/main" val="298912775"/>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7" r:id="rId20"/>
    <p:sldLayoutId id="2147483768" r:id="rId21"/>
    <p:sldLayoutId id="2147483769" r:id="rId22"/>
    <p:sldLayoutId id="2147483770" r:id="rId23"/>
    <p:sldLayoutId id="2147483771" r:id="rId24"/>
    <p:sldLayoutId id="2147483772" r:id="rId25"/>
    <p:sldLayoutId id="2147483773" r:id="rId26"/>
    <p:sldLayoutId id="2147483774" r:id="rId27"/>
    <p:sldLayoutId id="2147483775" r:id="rId28"/>
  </p:sldLayoutIdLst>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jpe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6A65C5-A488-7197-FF1B-7617EE02ADA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3331596" y="1263666"/>
            <a:ext cx="5528807" cy="1922796"/>
          </a:xfrm>
          <a:prstGeom prst="rect">
            <a:avLst/>
          </a:prstGeom>
        </p:spPr>
      </p:pic>
      <p:sp>
        <p:nvSpPr>
          <p:cNvPr id="6" name="TextBox 5">
            <a:extLst>
              <a:ext uri="{FF2B5EF4-FFF2-40B4-BE49-F238E27FC236}">
                <a16:creationId xmlns:a16="http://schemas.microsoft.com/office/drawing/2014/main" id="{E1CE8FC9-5B16-C8A1-E8B9-C79DA00ECBC9}"/>
              </a:ext>
            </a:extLst>
          </p:cNvPr>
          <p:cNvSpPr txBox="1"/>
          <p:nvPr/>
        </p:nvSpPr>
        <p:spPr>
          <a:xfrm>
            <a:off x="3952746" y="4636140"/>
            <a:ext cx="4286508" cy="400110"/>
          </a:xfrm>
          <a:prstGeom prst="rect">
            <a:avLst/>
          </a:prstGeom>
          <a:noFill/>
        </p:spPr>
        <p:txBody>
          <a:bodyPr wrap="square" rtlCol="0">
            <a:spAutoFit/>
          </a:bodyPr>
          <a:lstStyle/>
          <a:p>
            <a:pPr algn="ctr"/>
            <a:r>
              <a:rPr lang="en-US" sz="2000">
                <a:solidFill>
                  <a:schemeClr val="bg1"/>
                </a:solidFill>
                <a:latin typeface="Cooper Black" panose="0208090404030B020404" pitchFamily="18" charset="0"/>
                <a:cs typeface="Arial" panose="020B0604020202020204" pitchFamily="34" charset="0"/>
              </a:rPr>
              <a:t>Problem Statement</a:t>
            </a:r>
            <a:endParaRPr lang="en-IN" sz="2000">
              <a:solidFill>
                <a:schemeClr val="bg1"/>
              </a:solidFill>
              <a:latin typeface="Cooper Black" panose="0208090404030B020404" pitchFamily="18" charset="0"/>
              <a:cs typeface="Arial" panose="020B0604020202020204" pitchFamily="34" charset="0"/>
            </a:endParaRPr>
          </a:p>
        </p:txBody>
      </p:sp>
      <p:sp>
        <p:nvSpPr>
          <p:cNvPr id="7" name="TextBox 6">
            <a:extLst>
              <a:ext uri="{FF2B5EF4-FFF2-40B4-BE49-F238E27FC236}">
                <a16:creationId xmlns:a16="http://schemas.microsoft.com/office/drawing/2014/main" id="{99EA9458-E1BF-C8E3-8390-462AFDD3079E}"/>
              </a:ext>
            </a:extLst>
          </p:cNvPr>
          <p:cNvSpPr txBox="1"/>
          <p:nvPr/>
        </p:nvSpPr>
        <p:spPr>
          <a:xfrm>
            <a:off x="978158" y="5156890"/>
            <a:ext cx="10235681" cy="584775"/>
          </a:xfrm>
          <a:prstGeom prst="rect">
            <a:avLst/>
          </a:prstGeom>
          <a:noFill/>
        </p:spPr>
        <p:txBody>
          <a:bodyPr wrap="square" lIns="91440" tIns="45720" rIns="91440" bIns="45720" rtlCol="0" anchor="t">
            <a:spAutoFit/>
          </a:bodyPr>
          <a:lstStyle/>
          <a:p>
            <a:pPr algn="ctr"/>
            <a:r>
              <a:rPr lang="en-US" sz="1600" b="1" dirty="0">
                <a:solidFill>
                  <a:schemeClr val="bg1">
                    <a:lumMod val="85000"/>
                  </a:schemeClr>
                </a:solidFill>
                <a:latin typeface="Bahnschrift" panose="020B0502040204020203" pitchFamily="34" charset="0"/>
                <a:cs typeface="Arial"/>
              </a:rPr>
              <a:t>To develop an IoT-based smart system for real-time monitoring of water level and quality, along with leakage detection, to minimize water wastage and improve efficient water management.</a:t>
            </a:r>
            <a:endParaRPr lang="en-IN" sz="1600" b="1" spc="-150" dirty="0">
              <a:solidFill>
                <a:schemeClr val="bg1">
                  <a:lumMod val="85000"/>
                </a:schemeClr>
              </a:solidFill>
              <a:latin typeface="Bahnschrift" panose="020B0502040204020203" pitchFamily="34" charset="0"/>
              <a:cs typeface="Arial" panose="020B0604020202020204" pitchFamily="34" charset="0"/>
            </a:endParaRPr>
          </a:p>
        </p:txBody>
      </p:sp>
      <p:sp>
        <p:nvSpPr>
          <p:cNvPr id="8" name="TextBox 7">
            <a:extLst>
              <a:ext uri="{FF2B5EF4-FFF2-40B4-BE49-F238E27FC236}">
                <a16:creationId xmlns:a16="http://schemas.microsoft.com/office/drawing/2014/main" id="{872DF46B-7383-EDDC-68F5-6D4B251102E4}"/>
              </a:ext>
            </a:extLst>
          </p:cNvPr>
          <p:cNvSpPr txBox="1"/>
          <p:nvPr/>
        </p:nvSpPr>
        <p:spPr>
          <a:xfrm>
            <a:off x="4033120" y="3671538"/>
            <a:ext cx="4125760" cy="400110"/>
          </a:xfrm>
          <a:prstGeom prst="rect">
            <a:avLst/>
          </a:prstGeom>
          <a:noFill/>
        </p:spPr>
        <p:txBody>
          <a:bodyPr wrap="square" rtlCol="0">
            <a:spAutoFit/>
          </a:bodyPr>
          <a:lstStyle/>
          <a:p>
            <a:pPr algn="ctr"/>
            <a:r>
              <a:rPr lang="en-US" sz="2000">
                <a:solidFill>
                  <a:schemeClr val="bg1"/>
                </a:solidFill>
                <a:latin typeface="Cooper Black" panose="0208090404030B020404" pitchFamily="18" charset="0"/>
                <a:ea typeface="Cascadia Mono SemiBold" panose="020B0609020000020004" pitchFamily="49" charset="0"/>
                <a:cs typeface="Cascadia Mono SemiBold" panose="020B0609020000020004" pitchFamily="49" charset="0"/>
              </a:rPr>
              <a:t>Team Name</a:t>
            </a:r>
            <a:endParaRPr lang="en-IN" sz="2000">
              <a:solidFill>
                <a:schemeClr val="bg1"/>
              </a:solidFill>
              <a:latin typeface="Cooper Black" panose="0208090404030B020404" pitchFamily="18" charset="0"/>
              <a:ea typeface="Cascadia Mono SemiBold" panose="020B0609020000020004" pitchFamily="49" charset="0"/>
              <a:cs typeface="Cascadia Mono SemiBold" panose="020B0609020000020004" pitchFamily="49" charset="0"/>
            </a:endParaRPr>
          </a:p>
        </p:txBody>
      </p:sp>
      <p:sp>
        <p:nvSpPr>
          <p:cNvPr id="9" name="TextBox 8">
            <a:extLst>
              <a:ext uri="{FF2B5EF4-FFF2-40B4-BE49-F238E27FC236}">
                <a16:creationId xmlns:a16="http://schemas.microsoft.com/office/drawing/2014/main" id="{8977D1B5-8B79-F714-96FD-289F7BA35A9B}"/>
              </a:ext>
            </a:extLst>
          </p:cNvPr>
          <p:cNvSpPr txBox="1"/>
          <p:nvPr/>
        </p:nvSpPr>
        <p:spPr>
          <a:xfrm>
            <a:off x="978158" y="4133204"/>
            <a:ext cx="10235681" cy="369332"/>
          </a:xfrm>
          <a:prstGeom prst="rect">
            <a:avLst/>
          </a:prstGeom>
          <a:noFill/>
        </p:spPr>
        <p:txBody>
          <a:bodyPr wrap="square" rtlCol="0">
            <a:spAutoFit/>
          </a:bodyPr>
          <a:lstStyle/>
          <a:p>
            <a:pPr algn="ctr"/>
            <a:r>
              <a:rPr lang="en-IN" b="1">
                <a:solidFill>
                  <a:schemeClr val="bg1">
                    <a:lumMod val="85000"/>
                  </a:schemeClr>
                </a:solidFill>
                <a:latin typeface="Arial Rounded MT Bold" panose="020F0704030504030204" pitchFamily="34" charset="0"/>
                <a:ea typeface="Cascadia Mono SemiBold" panose="020B0609020000020004" pitchFamily="49" charset="0"/>
                <a:cs typeface="Cascadia Mono SemiBold" panose="020B0609020000020004" pitchFamily="49" charset="0"/>
              </a:rPr>
              <a:t>FORASDANGA REVOLUTION</a:t>
            </a:r>
          </a:p>
        </p:txBody>
      </p:sp>
    </p:spTree>
    <p:extLst>
      <p:ext uri="{BB962C8B-B14F-4D97-AF65-F5344CB8AC3E}">
        <p14:creationId xmlns:p14="http://schemas.microsoft.com/office/powerpoint/2010/main" val="3862554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DD6E80-44D5-5A69-B6D6-FDC057991567}"/>
              </a:ext>
            </a:extLst>
          </p:cNvPr>
          <p:cNvSpPr txBox="1"/>
          <p:nvPr/>
        </p:nvSpPr>
        <p:spPr>
          <a:xfrm>
            <a:off x="379095" y="319122"/>
            <a:ext cx="10957499" cy="830997"/>
          </a:xfrm>
          <a:prstGeom prst="rect">
            <a:avLst/>
          </a:prstGeom>
          <a:noFill/>
        </p:spPr>
        <p:txBody>
          <a:bodyPr wrap="square" rtlCol="0">
            <a:spAutoFit/>
          </a:bodyPr>
          <a:lstStyle/>
          <a:p>
            <a:r>
              <a:rPr lang="en-US" sz="4800" i="1" spc="-200">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Problem Identification &amp; Analysis</a:t>
            </a:r>
            <a:endParaRPr lang="en-IN" sz="4800" i="1" spc="-200">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A9D175E-7DE5-6181-6195-1CDBB8A94280}"/>
              </a:ext>
            </a:extLst>
          </p:cNvPr>
          <p:cNvSpPr txBox="1"/>
          <p:nvPr/>
        </p:nvSpPr>
        <p:spPr>
          <a:xfrm>
            <a:off x="379095" y="1150119"/>
            <a:ext cx="9591073" cy="2308324"/>
          </a:xfrm>
          <a:prstGeom prst="rect">
            <a:avLst/>
          </a:prstGeom>
          <a:noFill/>
        </p:spPr>
        <p:txBody>
          <a:bodyPr wrap="square" lIns="91440" tIns="45720" rIns="91440" bIns="45720" rtlCol="0" anchor="t">
            <a:spAutoFit/>
          </a:bodyPr>
          <a:lstStyle/>
          <a:p>
            <a:r>
              <a:rPr lang="en-US" sz="1600" b="1">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 </a:t>
            </a:r>
            <a:r>
              <a:rPr lang="en-US" sz="1600" b="1" u="sng">
                <a:solidFill>
                  <a:schemeClr val="tx1">
                    <a:lumMod val="75000"/>
                    <a:lumOff val="25000"/>
                  </a:schemeClr>
                </a:solidFill>
                <a:latin typeface="Arial" panose="020B0604020202020204" pitchFamily="34" charset="0"/>
                <a:cs typeface="Arial" panose="020B0604020202020204" pitchFamily="34" charset="0"/>
              </a:rPr>
              <a:t>Understand the Problem</a:t>
            </a:r>
            <a:r>
              <a:rPr lang="en-US" sz="1600" b="1" u="sng">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a:p>
            <a:pPr lvl="1">
              <a:buFont typeface="Arial" panose="020B0604020202020204" pitchFamily="34" charset="0"/>
              <a:buChar char="•"/>
            </a:pPr>
            <a:r>
              <a:rPr lang="en-US" sz="1600">
                <a:solidFill>
                  <a:schemeClr val="tx1">
                    <a:lumMod val="75000"/>
                    <a:lumOff val="25000"/>
                  </a:schemeClr>
                </a:solidFill>
                <a:latin typeface="Arial"/>
                <a:cs typeface="Arial"/>
              </a:rPr>
              <a:t>  </a:t>
            </a:r>
            <a:r>
              <a:rPr lang="en-US" sz="1600" b="1">
                <a:solidFill>
                  <a:schemeClr val="tx1">
                    <a:lumMod val="75000"/>
                    <a:lumOff val="25000"/>
                  </a:schemeClr>
                </a:solidFill>
                <a:latin typeface="Arial"/>
                <a:cs typeface="Arial"/>
              </a:rPr>
              <a:t>Real-World Problem:</a:t>
            </a:r>
            <a:r>
              <a:rPr lang="en-US" sz="1600">
                <a:solidFill>
                  <a:schemeClr val="tx1">
                    <a:lumMod val="75000"/>
                    <a:lumOff val="25000"/>
                  </a:schemeClr>
                </a:solidFill>
                <a:latin typeface="Bahnschrift"/>
                <a:cs typeface="Arial"/>
              </a:rPr>
              <a:t> </a:t>
            </a:r>
            <a:r>
              <a:rPr lang="en-US" sz="1600">
                <a:solidFill>
                  <a:schemeClr val="tx1">
                    <a:lumMod val="65000"/>
                    <a:lumOff val="35000"/>
                  </a:schemeClr>
                </a:solidFill>
                <a:latin typeface="Bahnschrift"/>
                <a:cs typeface="Arial"/>
              </a:rPr>
              <a:t>Massive water wastage caused by unmonitored tank overflows, undetected pipeline leaks, and consumption of contaminated water due to lack of real-time monitoring.</a:t>
            </a:r>
          </a:p>
          <a:p>
            <a:pPr lvl="1">
              <a:buFont typeface="Arial" panose="020B0604020202020204" pitchFamily="34" charset="0"/>
              <a:buChar char="•"/>
            </a:pPr>
            <a:r>
              <a:rPr lang="en-US" sz="1600">
                <a:solidFill>
                  <a:schemeClr val="tx1">
                    <a:lumMod val="75000"/>
                    <a:lumOff val="25000"/>
                  </a:schemeClr>
                </a:solidFill>
                <a:latin typeface="Arial"/>
                <a:cs typeface="Arial"/>
              </a:rPr>
              <a:t>  </a:t>
            </a:r>
            <a:r>
              <a:rPr lang="en-US" sz="1600" b="1">
                <a:solidFill>
                  <a:schemeClr val="tx1">
                    <a:lumMod val="75000"/>
                    <a:lumOff val="25000"/>
                  </a:schemeClr>
                </a:solidFill>
                <a:latin typeface="Arial"/>
                <a:cs typeface="Arial"/>
              </a:rPr>
              <a:t>Who Faces It &amp; Where:</a:t>
            </a:r>
            <a:r>
              <a:rPr lang="en-US" sz="1600">
                <a:solidFill>
                  <a:schemeClr val="tx1">
                    <a:lumMod val="75000"/>
                    <a:lumOff val="25000"/>
                  </a:schemeClr>
                </a:solidFill>
                <a:latin typeface="Bahnschrift"/>
                <a:cs typeface="Arial"/>
              </a:rPr>
              <a:t> Homeowners, housing societies, educational campuses, and commercial facilities.          </a:t>
            </a:r>
          </a:p>
          <a:p>
            <a:pPr lvl="1">
              <a:buFont typeface="Arial" panose="020B0604020202020204" pitchFamily="34" charset="0"/>
              <a:buChar char="•"/>
            </a:pPr>
            <a:r>
              <a:rPr lang="en-US" sz="1600">
                <a:solidFill>
                  <a:schemeClr val="tx1">
                    <a:lumMod val="75000"/>
                    <a:lumOff val="25000"/>
                  </a:schemeClr>
                </a:solidFill>
                <a:latin typeface="Arial"/>
                <a:cs typeface="Arial"/>
              </a:rPr>
              <a:t>  </a:t>
            </a:r>
            <a:r>
              <a:rPr lang="en-US" sz="1600" b="1">
                <a:solidFill>
                  <a:schemeClr val="tx1">
                    <a:lumMod val="75000"/>
                    <a:lumOff val="25000"/>
                  </a:schemeClr>
                </a:solidFill>
                <a:latin typeface="Arial"/>
                <a:cs typeface="Arial"/>
              </a:rPr>
              <a:t>Existing Solutions:</a:t>
            </a:r>
            <a:r>
              <a:rPr lang="en-US" sz="1600">
                <a:solidFill>
                  <a:schemeClr val="tx1">
                    <a:lumMod val="75000"/>
                    <a:lumOff val="25000"/>
                  </a:schemeClr>
                </a:solidFill>
                <a:latin typeface="Arial"/>
                <a:cs typeface="Arial"/>
              </a:rPr>
              <a:t> </a:t>
            </a:r>
            <a:r>
              <a:rPr lang="en-US" sz="1600">
                <a:solidFill>
                  <a:schemeClr val="tx1">
                    <a:lumMod val="75000"/>
                    <a:lumOff val="25000"/>
                  </a:schemeClr>
                </a:solidFill>
                <a:latin typeface="Bahnschrift"/>
                <a:cs typeface="Arial"/>
              </a:rPr>
              <a:t>Traditional mechanical float valves and manual visual checks.</a:t>
            </a:r>
          </a:p>
          <a:p>
            <a:pPr lvl="1">
              <a:buFont typeface="Arial" panose="020B0604020202020204" pitchFamily="34" charset="0"/>
              <a:buChar char="•"/>
            </a:pPr>
            <a:r>
              <a:rPr lang="en-US" sz="1600">
                <a:solidFill>
                  <a:schemeClr val="tx1">
                    <a:lumMod val="75000"/>
                    <a:lumOff val="25000"/>
                  </a:schemeClr>
                </a:solidFill>
                <a:latin typeface="Arial"/>
                <a:cs typeface="Arial"/>
              </a:rPr>
              <a:t>  </a:t>
            </a:r>
            <a:r>
              <a:rPr lang="en-US" sz="1600" b="1">
                <a:solidFill>
                  <a:schemeClr val="tx1">
                    <a:lumMod val="75000"/>
                    <a:lumOff val="25000"/>
                  </a:schemeClr>
                </a:solidFill>
                <a:latin typeface="Arial"/>
                <a:cs typeface="Arial"/>
              </a:rPr>
              <a:t>Gaps &amp; Limitations:</a:t>
            </a:r>
            <a:r>
              <a:rPr lang="en-US" sz="1600" b="1">
                <a:solidFill>
                  <a:schemeClr val="tx1">
                    <a:lumMod val="75000"/>
                    <a:lumOff val="25000"/>
                  </a:schemeClr>
                </a:solidFill>
                <a:latin typeface="Bahnschrift"/>
                <a:cs typeface="Arial"/>
              </a:rPr>
              <a:t> </a:t>
            </a:r>
            <a:r>
              <a:rPr lang="en-US" sz="1600">
                <a:solidFill>
                  <a:schemeClr val="tx1">
                    <a:lumMod val="75000"/>
                    <a:lumOff val="25000"/>
                  </a:schemeClr>
                </a:solidFill>
                <a:latin typeface="Bahnschrift"/>
                <a:cs typeface="Arial"/>
              </a:rPr>
              <a:t>Mechanical valves frequently fail, lack real-time alerts, cannot detect silent pipe leaks, and provide zero insights into water purity. </a:t>
            </a:r>
          </a:p>
        </p:txBody>
      </p:sp>
      <p:sp>
        <p:nvSpPr>
          <p:cNvPr id="7" name="TextBox 6">
            <a:extLst>
              <a:ext uri="{FF2B5EF4-FFF2-40B4-BE49-F238E27FC236}">
                <a16:creationId xmlns:a16="http://schemas.microsoft.com/office/drawing/2014/main" id="{9A632D60-3EB1-9202-539F-03B63F5BC238}"/>
              </a:ext>
            </a:extLst>
          </p:cNvPr>
          <p:cNvSpPr txBox="1"/>
          <p:nvPr/>
        </p:nvSpPr>
        <p:spPr>
          <a:xfrm>
            <a:off x="379095" y="3429000"/>
            <a:ext cx="10058400" cy="830997"/>
          </a:xfrm>
          <a:prstGeom prst="rect">
            <a:avLst/>
          </a:prstGeom>
          <a:noFill/>
        </p:spPr>
        <p:txBody>
          <a:bodyPr wrap="square" lIns="91440" tIns="45720" rIns="91440" bIns="45720" rtlCol="0" anchor="t">
            <a:spAutoFit/>
          </a:bodyPr>
          <a:lstStyle/>
          <a:p>
            <a:r>
              <a:rPr lang="en-US" sz="1600" b="1">
                <a:solidFill>
                  <a:schemeClr val="tx1">
                    <a:lumMod val="75000"/>
                    <a:lumOff val="25000"/>
                  </a:schemeClr>
                </a:solidFill>
                <a:latin typeface="Arial"/>
                <a:cs typeface="Arial"/>
              </a:rPr>
              <a:t>2. </a:t>
            </a:r>
            <a:r>
              <a:rPr lang="en-US" sz="1600" b="1" u="sng">
                <a:solidFill>
                  <a:schemeClr val="tx1">
                    <a:lumMod val="75000"/>
                    <a:lumOff val="25000"/>
                  </a:schemeClr>
                </a:solidFill>
                <a:latin typeface="Arial"/>
                <a:cs typeface="Arial"/>
              </a:rPr>
              <a:t>State the Problem:</a:t>
            </a:r>
            <a:r>
              <a:rPr lang="en-US" sz="1400" b="1" u="sng">
                <a:solidFill>
                  <a:schemeClr val="tx1">
                    <a:lumMod val="75000"/>
                    <a:lumOff val="25000"/>
                  </a:schemeClr>
                </a:solidFill>
                <a:latin typeface="Arial"/>
                <a:cs typeface="Arial"/>
              </a:rPr>
              <a:t> </a:t>
            </a:r>
          </a:p>
          <a:p>
            <a:pPr marL="285750" indent="-285750">
              <a:buFont typeface="Wingdings" panose="05000000000000000000" pitchFamily="2" charset="2"/>
              <a:buChar char="q"/>
            </a:pPr>
            <a:r>
              <a:rPr lang="en-US" sz="1600" b="1">
                <a:solidFill>
                  <a:schemeClr val="tx1">
                    <a:lumMod val="75000"/>
                    <a:lumOff val="25000"/>
                  </a:schemeClr>
                </a:solidFill>
                <a:latin typeface="Arial"/>
                <a:cs typeface="Arial"/>
              </a:rPr>
              <a:t>Identified problem: </a:t>
            </a:r>
            <a:r>
              <a:rPr lang="en-US" sz="1600">
                <a:solidFill>
                  <a:schemeClr val="tx1">
                    <a:lumMod val="75000"/>
                    <a:lumOff val="25000"/>
                  </a:schemeClr>
                </a:solidFill>
                <a:latin typeface="Bahnschrift"/>
                <a:cs typeface="Arial"/>
              </a:rPr>
              <a:t>“Unmonitored water tanks and distribution pipes lead to significant water wastage through silent leaks and overflows, alongside unmonitored water quality that poses health risks.”</a:t>
            </a:r>
          </a:p>
        </p:txBody>
      </p:sp>
      <p:sp>
        <p:nvSpPr>
          <p:cNvPr id="8" name="TextBox 7">
            <a:extLst>
              <a:ext uri="{FF2B5EF4-FFF2-40B4-BE49-F238E27FC236}">
                <a16:creationId xmlns:a16="http://schemas.microsoft.com/office/drawing/2014/main" id="{73C6D068-8633-E780-2887-81291CFF4164}"/>
              </a:ext>
            </a:extLst>
          </p:cNvPr>
          <p:cNvSpPr txBox="1"/>
          <p:nvPr/>
        </p:nvSpPr>
        <p:spPr>
          <a:xfrm>
            <a:off x="379095" y="4356460"/>
            <a:ext cx="10058400" cy="830997"/>
          </a:xfrm>
          <a:prstGeom prst="rect">
            <a:avLst/>
          </a:prstGeom>
          <a:noFill/>
        </p:spPr>
        <p:txBody>
          <a:bodyPr wrap="square" lIns="91440" tIns="45720" rIns="91440" bIns="45720" rtlCol="0" anchor="t">
            <a:spAutoFit/>
          </a:bodyPr>
          <a:lstStyle/>
          <a:p>
            <a:r>
              <a:rPr lang="en-US" sz="1600" b="1">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3. </a:t>
            </a:r>
            <a:r>
              <a:rPr lang="en-US" sz="1600" b="1" u="sng">
                <a:solidFill>
                  <a:schemeClr val="tx1">
                    <a:lumMod val="75000"/>
                    <a:lumOff val="25000"/>
                  </a:schemeClr>
                </a:solidFill>
                <a:latin typeface="Arial" panose="020B0604020202020204" pitchFamily="34" charset="0"/>
                <a:cs typeface="Arial" panose="020B0604020202020204" pitchFamily="34" charset="0"/>
              </a:rPr>
              <a:t>Describe Your Solution:</a:t>
            </a:r>
            <a:endParaRPr lang="en-US" sz="1600" u="sng">
              <a:solidFill>
                <a:schemeClr val="tx1">
                  <a:lumMod val="75000"/>
                  <a:lumOff val="25000"/>
                </a:schemeClr>
              </a:solidFill>
              <a:latin typeface="Arial" panose="020B0604020202020204" pitchFamily="34" charset="0"/>
              <a:cs typeface="Arial" panose="020B0604020202020204" pitchFamily="34" charset="0"/>
            </a:endParaRPr>
          </a:p>
          <a:p>
            <a:r>
              <a:rPr lang="en-US" sz="1500">
                <a:solidFill>
                  <a:schemeClr val="tx1">
                    <a:lumMod val="75000"/>
                    <a:lumOff val="25000"/>
                  </a:schemeClr>
                </a:solidFill>
                <a:latin typeface="Arial"/>
                <a:cs typeface="Arial"/>
              </a:rPr>
              <a:t>   </a:t>
            </a:r>
            <a:r>
              <a:rPr lang="en-US" sz="1600">
                <a:solidFill>
                  <a:schemeClr val="tx1">
                    <a:lumMod val="75000"/>
                    <a:lumOff val="25000"/>
                  </a:schemeClr>
                </a:solidFill>
                <a:latin typeface="Bahnschrift"/>
                <a:cs typeface="Arial" panose="020B0604020202020204" pitchFamily="34" charset="0"/>
              </a:rPr>
              <a:t>“We propose to develop an IoT-based Smart Water Management System that will monitor water levels, detect contamination, and identify pipeline leakages in real-time with automated shut-off feature.”</a:t>
            </a:r>
          </a:p>
        </p:txBody>
      </p:sp>
    </p:spTree>
    <p:extLst>
      <p:ext uri="{BB962C8B-B14F-4D97-AF65-F5344CB8AC3E}">
        <p14:creationId xmlns:p14="http://schemas.microsoft.com/office/powerpoint/2010/main" val="791847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DD6E80-44D5-5A69-B6D6-FDC057991567}"/>
              </a:ext>
            </a:extLst>
          </p:cNvPr>
          <p:cNvSpPr txBox="1"/>
          <p:nvPr/>
        </p:nvSpPr>
        <p:spPr>
          <a:xfrm>
            <a:off x="379095" y="431974"/>
            <a:ext cx="10701860" cy="830997"/>
          </a:xfrm>
          <a:prstGeom prst="rect">
            <a:avLst/>
          </a:prstGeom>
          <a:noFill/>
        </p:spPr>
        <p:txBody>
          <a:bodyPr wrap="square" lIns="91440" tIns="45720" rIns="91440" bIns="45720" rtlCol="0">
            <a:spAutoFit/>
          </a:bodyPr>
          <a:lstStyle/>
          <a:p>
            <a:r>
              <a:rPr lang="en-US" sz="4800" i="1" spc="-200">
                <a:solidFill>
                  <a:schemeClr val="tx1">
                    <a:lumMod val="75000"/>
                    <a:lumOff val="25000"/>
                  </a:schemeClr>
                </a:solidFill>
                <a:effectLst>
                  <a:outerShdw blurRad="38100" dist="38100" dir="2700000" algn="tl">
                    <a:srgbClr val="000000">
                      <a:alpha val="43137"/>
                    </a:srgbClr>
                  </a:outerShdw>
                </a:effectLst>
                <a:latin typeface="Arial"/>
                <a:cs typeface="Arial"/>
              </a:rPr>
              <a:t>Proposed Technical Approach</a:t>
            </a:r>
            <a:endParaRPr lang="en-IN" sz="4800" i="1" spc="-200">
              <a:solidFill>
                <a:schemeClr val="tx1">
                  <a:lumMod val="75000"/>
                  <a:lumOff val="25000"/>
                </a:schemeClr>
              </a:solidFill>
              <a:effectLst>
                <a:outerShdw blurRad="38100" dist="38100" dir="2700000" algn="tl">
                  <a:srgbClr val="000000">
                    <a:alpha val="43137"/>
                  </a:srgbClr>
                </a:outerShdw>
              </a:effectLst>
              <a:latin typeface="Arial"/>
              <a:cs typeface="Arial"/>
            </a:endParaRPr>
          </a:p>
        </p:txBody>
      </p:sp>
      <p:sp>
        <p:nvSpPr>
          <p:cNvPr id="6" name="TextBox 5">
            <a:extLst>
              <a:ext uri="{FF2B5EF4-FFF2-40B4-BE49-F238E27FC236}">
                <a16:creationId xmlns:a16="http://schemas.microsoft.com/office/drawing/2014/main" id="{4A9D175E-7DE5-6181-6195-1CDBB8A94280}"/>
              </a:ext>
            </a:extLst>
          </p:cNvPr>
          <p:cNvSpPr txBox="1"/>
          <p:nvPr/>
        </p:nvSpPr>
        <p:spPr>
          <a:xfrm>
            <a:off x="379095" y="1491524"/>
            <a:ext cx="11328400" cy="3724096"/>
          </a:xfrm>
          <a:prstGeom prst="rect">
            <a:avLst/>
          </a:prstGeom>
          <a:noFill/>
        </p:spPr>
        <p:txBody>
          <a:bodyPr wrap="square" lIns="91440" tIns="45720" rIns="91440" bIns="45720" rtlCol="0" anchor="t">
            <a:spAutoFit/>
          </a:bodyPr>
          <a:lstStyle/>
          <a:p>
            <a:pPr marL="342900" indent="-342900">
              <a:buFont typeface="Wingdings" panose="05000000000000000000" pitchFamily="2" charset="2"/>
              <a:buChar char="q"/>
            </a:pPr>
            <a:r>
              <a:rPr lang="en-US" sz="2000" b="1" u="sng" dirty="0">
                <a:solidFill>
                  <a:schemeClr val="tx1">
                    <a:lumMod val="75000"/>
                    <a:lumOff val="25000"/>
                  </a:schemeClr>
                </a:solidFill>
                <a:latin typeface="Arial"/>
                <a:cs typeface="Arial"/>
              </a:rPr>
              <a:t>Working Flow:</a:t>
            </a:r>
            <a:endParaRPr lang="en-US" sz="2000" u="sng" dirty="0">
              <a:solidFill>
                <a:schemeClr val="tx1">
                  <a:lumMod val="75000"/>
                  <a:lumOff val="25000"/>
                </a:schemeClr>
              </a:solidFill>
            </a:endParaRPr>
          </a:p>
          <a:p>
            <a:endParaRPr lang="en-US" sz="2000" dirty="0">
              <a:solidFill>
                <a:schemeClr val="tx1">
                  <a:lumMod val="75000"/>
                  <a:lumOff val="25000"/>
                </a:schemeClr>
              </a:solidFill>
              <a:latin typeface="Arial"/>
              <a:cs typeface="Arial"/>
            </a:endParaRPr>
          </a:p>
          <a:p>
            <a:pPr marL="285750" indent="-285750">
              <a:buFont typeface="Arial"/>
              <a:buChar char="•"/>
            </a:pPr>
            <a:r>
              <a:rPr lang="en-US" sz="1600" b="1" dirty="0">
                <a:solidFill>
                  <a:schemeClr val="tx1">
                    <a:lumMod val="75000"/>
                    <a:lumOff val="25000"/>
                  </a:schemeClr>
                </a:solidFill>
                <a:ea typeface="+mn-lt"/>
                <a:cs typeface="+mn-lt"/>
              </a:rPr>
              <a:t>Data Input:</a:t>
            </a:r>
            <a:r>
              <a:rPr lang="en-US" sz="1600" dirty="0">
                <a:solidFill>
                  <a:schemeClr val="tx1">
                    <a:lumMod val="75000"/>
                    <a:lumOff val="25000"/>
                  </a:schemeClr>
                </a:solidFill>
                <a:ea typeface="+mn-lt"/>
                <a:cs typeface="+mn-lt"/>
              </a:rPr>
              <a:t> The HC-SR04 ultrasonic sensor transmits high-frequency sound waves through its trigger pin and clocks the travel time of the reflected echo pulse to read the distance to the water surface. Concurrently, the potentiometer supplies an analog voltage to simulate parameter thresholds or water quality input. </a:t>
            </a:r>
            <a:endParaRPr lang="en-US" sz="1600" dirty="0">
              <a:solidFill>
                <a:schemeClr val="tx1">
                  <a:lumMod val="75000"/>
                  <a:lumOff val="25000"/>
                </a:schemeClr>
              </a:solidFill>
            </a:endParaRPr>
          </a:p>
          <a:p>
            <a:pPr marL="285750" indent="-285750">
              <a:buFont typeface="Arial"/>
              <a:buChar char="•"/>
            </a:pPr>
            <a:r>
              <a:rPr lang="en-US" sz="1600" b="1" dirty="0">
                <a:solidFill>
                  <a:schemeClr val="tx1">
                    <a:lumMod val="75000"/>
                    <a:lumOff val="25000"/>
                  </a:schemeClr>
                </a:solidFill>
                <a:latin typeface="Aptos"/>
                <a:ea typeface="+mn-lt"/>
                <a:cs typeface="+mn-lt"/>
              </a:rPr>
              <a:t>Main Processing (C++ Logic):</a:t>
            </a:r>
            <a:r>
              <a:rPr lang="en-US" sz="1600" dirty="0">
                <a:solidFill>
                  <a:schemeClr val="tx1">
                    <a:lumMod val="75000"/>
                    <a:lumOff val="25000"/>
                  </a:schemeClr>
                </a:solidFill>
                <a:latin typeface="Aptos"/>
                <a:ea typeface="+mn-lt"/>
                <a:cs typeface="+mn-lt"/>
              </a:rPr>
              <a:t> The microcontroller reads digital pulse timings and analog signals, converting the pulse duration into centimeters using the relation </a:t>
            </a:r>
            <a:r>
              <a:rPr lang="en-US" sz="1600" dirty="0">
                <a:solidFill>
                  <a:schemeClr val="tx1">
                    <a:lumMod val="75000"/>
                    <a:lumOff val="25000"/>
                  </a:schemeClr>
                </a:solidFill>
                <a:ea typeface="+mn-lt"/>
                <a:cs typeface="+mn-lt"/>
              </a:rPr>
              <a:t>Distance = (Time × 0.0343) / 2</a:t>
            </a:r>
            <a:r>
              <a:rPr lang="en-US" sz="1600" dirty="0">
                <a:solidFill>
                  <a:schemeClr val="tx1">
                    <a:lumMod val="75000"/>
                    <a:lumOff val="25000"/>
                  </a:schemeClr>
                </a:solidFill>
                <a:latin typeface="Aptos"/>
                <a:ea typeface="+mn-lt"/>
                <a:cs typeface="+mn-lt"/>
              </a:rPr>
              <a:t> .The algorithm averages readings to reject turbulence noise and maps the current level to capacity limits. </a:t>
            </a:r>
            <a:endParaRPr lang="en-US" sz="1600" dirty="0">
              <a:solidFill>
                <a:schemeClr val="tx1">
                  <a:lumMod val="75000"/>
                  <a:lumOff val="25000"/>
                </a:schemeClr>
              </a:solidFill>
              <a:latin typeface="Aptos"/>
            </a:endParaRPr>
          </a:p>
          <a:p>
            <a:pPr marL="285750" indent="-285750">
              <a:buFont typeface="Arial"/>
              <a:buChar char="•"/>
            </a:pPr>
            <a:r>
              <a:rPr lang="en-US" sz="1600" b="1" dirty="0">
                <a:solidFill>
                  <a:schemeClr val="tx1">
                    <a:lumMod val="75000"/>
                    <a:lumOff val="25000"/>
                  </a:schemeClr>
                </a:solidFill>
                <a:ea typeface="+mn-lt"/>
                <a:cs typeface="+mn-lt"/>
              </a:rPr>
              <a:t>Threshold Comparison:</a:t>
            </a:r>
            <a:r>
              <a:rPr lang="en-US" sz="1600" dirty="0">
                <a:solidFill>
                  <a:schemeClr val="tx1">
                    <a:lumMod val="75000"/>
                    <a:lumOff val="25000"/>
                  </a:schemeClr>
                </a:solidFill>
                <a:ea typeface="+mn-lt"/>
                <a:cs typeface="+mn-lt"/>
              </a:rPr>
              <a:t> The firmware compares the calculated water level against predefined boundary conditions (Low, Normal, Overflow/Leak). </a:t>
            </a:r>
            <a:endParaRPr lang="en-US" sz="1600" dirty="0">
              <a:solidFill>
                <a:schemeClr val="tx1">
                  <a:lumMod val="75000"/>
                  <a:lumOff val="25000"/>
                </a:schemeClr>
              </a:solidFill>
            </a:endParaRPr>
          </a:p>
          <a:p>
            <a:pPr marL="285750" indent="-285750">
              <a:buFont typeface="Arial"/>
              <a:buChar char="•"/>
            </a:pPr>
            <a:r>
              <a:rPr lang="en-US" sz="1600" b="1" dirty="0">
                <a:solidFill>
                  <a:schemeClr val="tx1">
                    <a:lumMod val="75000"/>
                    <a:lumOff val="25000"/>
                  </a:schemeClr>
                </a:solidFill>
                <a:ea typeface="+mn-lt"/>
                <a:cs typeface="+mn-lt"/>
              </a:rPr>
              <a:t>Final Output &amp; Action:</a:t>
            </a:r>
            <a:r>
              <a:rPr lang="en-US" sz="1600" dirty="0">
                <a:solidFill>
                  <a:schemeClr val="tx1">
                    <a:lumMod val="75000"/>
                    <a:lumOff val="25000"/>
                  </a:schemeClr>
                </a:solidFill>
                <a:ea typeface="+mn-lt"/>
                <a:cs typeface="+mn-lt"/>
              </a:rPr>
              <a:t> The 16x2 LCD prints numeric distance and operating status in real time. Concurrently, digital output pins trigger the LEDs: Green for stable levels, Yellow for approaching limits, and Red for critical overflow or leak detection.</a:t>
            </a:r>
            <a:endParaRPr lang="en-US" sz="1600" dirty="0">
              <a:solidFill>
                <a:schemeClr val="tx1">
                  <a:lumMod val="75000"/>
                  <a:lumOff val="25000"/>
                </a:schemeClr>
              </a:solidFill>
            </a:endParaRPr>
          </a:p>
          <a:p>
            <a:endParaRPr lang="en-US" sz="2000" b="1" dirty="0">
              <a:solidFill>
                <a:schemeClr val="tx1">
                  <a:lumMod val="75000"/>
                  <a:lumOff val="25000"/>
                </a:schemeClr>
              </a:solidFill>
              <a:latin typeface="Arial"/>
              <a:cs typeface="Arial"/>
            </a:endParaRPr>
          </a:p>
        </p:txBody>
      </p:sp>
    </p:spTree>
    <p:extLst>
      <p:ext uri="{BB962C8B-B14F-4D97-AF65-F5344CB8AC3E}">
        <p14:creationId xmlns:p14="http://schemas.microsoft.com/office/powerpoint/2010/main" val="3570923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95B72BE-F5C5-567B-FCF3-2EB5F61D801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7B09168-6C9B-0294-57F1-BA39B03152AC}"/>
              </a:ext>
            </a:extLst>
          </p:cNvPr>
          <p:cNvSpPr txBox="1"/>
          <p:nvPr/>
        </p:nvSpPr>
        <p:spPr>
          <a:xfrm>
            <a:off x="379095" y="431974"/>
            <a:ext cx="10701860" cy="830997"/>
          </a:xfrm>
          <a:prstGeom prst="rect">
            <a:avLst/>
          </a:prstGeom>
          <a:noFill/>
        </p:spPr>
        <p:txBody>
          <a:bodyPr wrap="square" lIns="91440" tIns="45720" rIns="91440" bIns="45720" rtlCol="0">
            <a:spAutoFit/>
          </a:bodyPr>
          <a:lstStyle/>
          <a:p>
            <a:r>
              <a:rPr lang="en-US" sz="4800" i="1" spc="-200" dirty="0">
                <a:solidFill>
                  <a:schemeClr val="tx1">
                    <a:lumMod val="75000"/>
                    <a:lumOff val="25000"/>
                  </a:schemeClr>
                </a:solidFill>
                <a:effectLst>
                  <a:outerShdw blurRad="38100" dist="38100" dir="2700000" algn="tl">
                    <a:srgbClr val="000000">
                      <a:alpha val="43137"/>
                    </a:srgbClr>
                  </a:outerShdw>
                </a:effectLst>
                <a:latin typeface="Arial"/>
                <a:cs typeface="Arial"/>
              </a:rPr>
              <a:t>Proposed Technical Approach</a:t>
            </a:r>
            <a:endParaRPr lang="en-IN" sz="4800" i="1" spc="-200" dirty="0">
              <a:solidFill>
                <a:schemeClr val="tx1">
                  <a:lumMod val="75000"/>
                  <a:lumOff val="25000"/>
                </a:schemeClr>
              </a:solidFill>
              <a:effectLst>
                <a:outerShdw blurRad="38100" dist="38100" dir="2700000" algn="tl">
                  <a:srgbClr val="000000">
                    <a:alpha val="43137"/>
                  </a:srgbClr>
                </a:outerShdw>
              </a:effectLst>
              <a:latin typeface="Arial"/>
              <a:cs typeface="Arial"/>
            </a:endParaRPr>
          </a:p>
        </p:txBody>
      </p:sp>
      <p:sp>
        <p:nvSpPr>
          <p:cNvPr id="6" name="TextBox 5">
            <a:extLst>
              <a:ext uri="{FF2B5EF4-FFF2-40B4-BE49-F238E27FC236}">
                <a16:creationId xmlns:a16="http://schemas.microsoft.com/office/drawing/2014/main" id="{6878172F-BE1D-F408-3FC5-5E7918AEF113}"/>
              </a:ext>
            </a:extLst>
          </p:cNvPr>
          <p:cNvSpPr txBox="1"/>
          <p:nvPr/>
        </p:nvSpPr>
        <p:spPr>
          <a:xfrm>
            <a:off x="379095" y="1491524"/>
            <a:ext cx="9103360" cy="400110"/>
          </a:xfrm>
          <a:prstGeom prst="rect">
            <a:avLst/>
          </a:prstGeom>
          <a:noFill/>
        </p:spPr>
        <p:txBody>
          <a:bodyPr wrap="square" lIns="91440" tIns="45720" rIns="91440" bIns="45720" rtlCol="0" anchor="t">
            <a:spAutoFit/>
          </a:bodyPr>
          <a:lstStyle/>
          <a:p>
            <a:r>
              <a:rPr lang="en-US" sz="2000" b="1" u="sng" dirty="0">
                <a:solidFill>
                  <a:schemeClr val="tx1">
                    <a:lumMod val="75000"/>
                    <a:lumOff val="25000"/>
                  </a:schemeClr>
                </a:solidFill>
                <a:latin typeface="Arial"/>
                <a:cs typeface="Arial"/>
              </a:rPr>
              <a:t>Working Flow: </a:t>
            </a:r>
            <a:endParaRPr lang="en-US" sz="2000" u="sng" dirty="0">
              <a:solidFill>
                <a:schemeClr val="tx1">
                  <a:lumMod val="75000"/>
                  <a:lumOff val="25000"/>
                </a:schemeClr>
              </a:solidFill>
              <a:latin typeface="Aptos"/>
              <a:cs typeface="Arial"/>
            </a:endParaRPr>
          </a:p>
        </p:txBody>
      </p:sp>
      <p:pic>
        <p:nvPicPr>
          <p:cNvPr id="11" name="Picture 10">
            <a:extLst>
              <a:ext uri="{FF2B5EF4-FFF2-40B4-BE49-F238E27FC236}">
                <a16:creationId xmlns:a16="http://schemas.microsoft.com/office/drawing/2014/main" id="{B4799577-1234-297A-E318-BCA23ECF7C2A}"/>
              </a:ext>
            </a:extLst>
          </p:cNvPr>
          <p:cNvPicPr>
            <a:picLocks noChangeAspect="1"/>
          </p:cNvPicPr>
          <p:nvPr/>
        </p:nvPicPr>
        <p:blipFill>
          <a:blip r:embed="rId3"/>
          <a:stretch>
            <a:fillRect/>
          </a:stretch>
        </p:blipFill>
        <p:spPr>
          <a:xfrm>
            <a:off x="1088384" y="2002129"/>
            <a:ext cx="10170310" cy="2853741"/>
          </a:xfrm>
          <a:prstGeom prst="rect">
            <a:avLst/>
          </a:prstGeom>
        </p:spPr>
      </p:pic>
      <p:sp>
        <p:nvSpPr>
          <p:cNvPr id="2" name="TextBox 1">
            <a:extLst>
              <a:ext uri="{FF2B5EF4-FFF2-40B4-BE49-F238E27FC236}">
                <a16:creationId xmlns:a16="http://schemas.microsoft.com/office/drawing/2014/main" id="{C4180CBF-EC39-0C90-82E5-AB76B58F16E5}"/>
              </a:ext>
            </a:extLst>
          </p:cNvPr>
          <p:cNvSpPr txBox="1"/>
          <p:nvPr/>
        </p:nvSpPr>
        <p:spPr>
          <a:xfrm>
            <a:off x="1258529" y="5063613"/>
            <a:ext cx="9547123" cy="369332"/>
          </a:xfrm>
          <a:prstGeom prst="rect">
            <a:avLst/>
          </a:prstGeom>
          <a:noFill/>
        </p:spPr>
        <p:txBody>
          <a:bodyPr wrap="square" rtlCol="0">
            <a:spAutoFit/>
          </a:bodyPr>
          <a:lstStyle/>
          <a:p>
            <a:pPr algn="ctr"/>
            <a:r>
              <a:rPr lang="en-IN" b="1" dirty="0">
                <a:effectLst>
                  <a:outerShdw blurRad="38100" dist="38100" dir="2700000" algn="tl">
                    <a:srgbClr val="000000">
                      <a:alpha val="43137"/>
                    </a:srgbClr>
                  </a:outerShdw>
                </a:effectLst>
              </a:rPr>
              <a:t>https://youtu.be/Z6_uGqwxsyE?si=DPdjhsptEHMkqpfQ</a:t>
            </a:r>
          </a:p>
        </p:txBody>
      </p:sp>
      <p:pic>
        <p:nvPicPr>
          <p:cNvPr id="10" name="Picture 9">
            <a:extLst>
              <a:ext uri="{FF2B5EF4-FFF2-40B4-BE49-F238E27FC236}">
                <a16:creationId xmlns:a16="http://schemas.microsoft.com/office/drawing/2014/main" id="{B65C0071-6501-250C-5ACA-55A79F1D6FCF}"/>
              </a:ext>
            </a:extLst>
          </p:cNvPr>
          <p:cNvPicPr>
            <a:picLocks noChangeAspect="1"/>
          </p:cNvPicPr>
          <p:nvPr/>
        </p:nvPicPr>
        <p:blipFill>
          <a:blip r:embed="rId4"/>
          <a:stretch>
            <a:fillRect/>
          </a:stretch>
        </p:blipFill>
        <p:spPr>
          <a:xfrm>
            <a:off x="2172928" y="5063613"/>
            <a:ext cx="530943" cy="392239"/>
          </a:xfrm>
          <a:prstGeom prst="rect">
            <a:avLst/>
          </a:prstGeom>
        </p:spPr>
      </p:pic>
    </p:spTree>
    <p:extLst>
      <p:ext uri="{BB962C8B-B14F-4D97-AF65-F5344CB8AC3E}">
        <p14:creationId xmlns:p14="http://schemas.microsoft.com/office/powerpoint/2010/main" val="2819584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DD6E80-44D5-5A69-B6D6-FDC057991567}"/>
              </a:ext>
            </a:extLst>
          </p:cNvPr>
          <p:cNvSpPr txBox="1"/>
          <p:nvPr/>
        </p:nvSpPr>
        <p:spPr>
          <a:xfrm>
            <a:off x="379095" y="205674"/>
            <a:ext cx="10058400" cy="830997"/>
          </a:xfrm>
          <a:prstGeom prst="rect">
            <a:avLst/>
          </a:prstGeom>
          <a:noFill/>
        </p:spPr>
        <p:txBody>
          <a:bodyPr wrap="square" rtlCol="0">
            <a:spAutoFit/>
          </a:bodyPr>
          <a:lstStyle/>
          <a:p>
            <a:r>
              <a:rPr lang="en-US" sz="4800" i="1" spc="-200">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Technology Stack</a:t>
            </a:r>
            <a:endParaRPr lang="en-IN" sz="4800" i="1" spc="-200">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CFB4BA9-756B-7806-1A72-EED7D9D6A210}"/>
              </a:ext>
            </a:extLst>
          </p:cNvPr>
          <p:cNvSpPr txBox="1"/>
          <p:nvPr/>
        </p:nvSpPr>
        <p:spPr>
          <a:xfrm>
            <a:off x="379095" y="1051204"/>
            <a:ext cx="10058400" cy="3046988"/>
          </a:xfrm>
          <a:prstGeom prst="rect">
            <a:avLst/>
          </a:prstGeom>
          <a:noFill/>
        </p:spPr>
        <p:txBody>
          <a:bodyPr wrap="square" lIns="91440" tIns="45720" rIns="91440" bIns="45720" rtlCol="0" anchor="t">
            <a:spAutoFit/>
          </a:bodyPr>
          <a:lstStyle/>
          <a:p>
            <a:r>
              <a:rPr lang="en-US" sz="1600" b="1">
                <a:solidFill>
                  <a:schemeClr val="tx1">
                    <a:lumMod val="75000"/>
                    <a:lumOff val="25000"/>
                  </a:schemeClr>
                </a:solidFill>
                <a:latin typeface="Arial"/>
                <a:cs typeface="Arial"/>
              </a:rPr>
              <a:t>1.  </a:t>
            </a:r>
            <a:r>
              <a:rPr lang="en-US" sz="1600" b="1" u="sng">
                <a:solidFill>
                  <a:schemeClr val="tx1">
                    <a:lumMod val="75000"/>
                    <a:lumOff val="25000"/>
                  </a:schemeClr>
                </a:solidFill>
                <a:latin typeface="Arial"/>
                <a:cs typeface="Arial"/>
              </a:rPr>
              <a:t>Hardware:</a:t>
            </a:r>
          </a:p>
          <a:p>
            <a:pPr marL="285750" indent="-285750">
              <a:buFont typeface="Arial" panose="020B0604020202020204" pitchFamily="34" charset="0"/>
              <a:buChar char="•"/>
            </a:pPr>
            <a:r>
              <a:rPr lang="en-US" sz="1600" b="1">
                <a:solidFill>
                  <a:schemeClr val="tx1">
                    <a:lumMod val="75000"/>
                    <a:lumOff val="25000"/>
                  </a:schemeClr>
                </a:solidFill>
                <a:latin typeface="Arial"/>
                <a:cs typeface="Arial"/>
              </a:rPr>
              <a:t>HC-SR04 Ultrasonic Sensor: </a:t>
            </a:r>
            <a:r>
              <a:rPr lang="en-US" sz="1600">
                <a:solidFill>
                  <a:schemeClr val="tx1">
                    <a:lumMod val="75000"/>
                    <a:lumOff val="25000"/>
                  </a:schemeClr>
                </a:solidFill>
                <a:latin typeface="Bahnschrift"/>
                <a:cs typeface="Arial"/>
              </a:rPr>
              <a:t>Used to continuously measure the water level in the tank without physical contact.</a:t>
            </a:r>
          </a:p>
          <a:p>
            <a:pPr marL="285750" indent="-285750">
              <a:buFont typeface="Arial" panose="020B0604020202020204" pitchFamily="34" charset="0"/>
              <a:buChar char="•"/>
            </a:pPr>
            <a:r>
              <a:rPr lang="en-US" sz="1600" b="1">
                <a:solidFill>
                  <a:schemeClr val="tx1">
                    <a:lumMod val="75000"/>
                    <a:lumOff val="25000"/>
                  </a:schemeClr>
                </a:solidFill>
                <a:latin typeface="Arial"/>
                <a:cs typeface="Arial"/>
              </a:rPr>
              <a:t>​16x2 LCD Display: </a:t>
            </a:r>
            <a:r>
              <a:rPr lang="en-US" sz="1600">
                <a:solidFill>
                  <a:schemeClr val="tx1">
                    <a:lumMod val="75000"/>
                    <a:lumOff val="25000"/>
                  </a:schemeClr>
                </a:solidFill>
                <a:latin typeface="Bahnschrift"/>
                <a:cs typeface="Arial"/>
              </a:rPr>
              <a:t>Provides a local, real-time visual readout of the water level and system status</a:t>
            </a:r>
            <a:r>
              <a:rPr lang="en-US" sz="1600" b="1">
                <a:solidFill>
                  <a:schemeClr val="tx1">
                    <a:lumMod val="75000"/>
                    <a:lumOff val="25000"/>
                  </a:schemeClr>
                </a:solidFill>
                <a:latin typeface="Bahnschrift"/>
                <a:cs typeface="Arial"/>
              </a:rPr>
              <a:t>.</a:t>
            </a:r>
          </a:p>
          <a:p>
            <a:pPr marL="285750" indent="-285750">
              <a:buFont typeface="Arial" panose="020B0604020202020204" pitchFamily="34" charset="0"/>
              <a:buChar char="•"/>
            </a:pPr>
            <a:r>
              <a:rPr lang="en-US" sz="1600" b="1">
                <a:solidFill>
                  <a:schemeClr val="tx1">
                    <a:lumMod val="75000"/>
                    <a:lumOff val="25000"/>
                  </a:schemeClr>
                </a:solidFill>
                <a:latin typeface="Arial"/>
                <a:cs typeface="Arial"/>
              </a:rPr>
              <a:t>​LEDs (x3): </a:t>
            </a:r>
            <a:r>
              <a:rPr lang="en-US" sz="1600">
                <a:solidFill>
                  <a:schemeClr val="tx1">
                    <a:lumMod val="75000"/>
                    <a:lumOff val="25000"/>
                  </a:schemeClr>
                </a:solidFill>
                <a:latin typeface="Bahnschrift"/>
                <a:cs typeface="Arial"/>
              </a:rPr>
              <a:t>Act as visual indicators for different system states (e.g., Green for normal, Yellow for warning, Red for high-level alert/leakage).</a:t>
            </a:r>
          </a:p>
          <a:p>
            <a:pPr marL="285750" indent="-285750">
              <a:buFont typeface="Arial" panose="020B0604020202020204" pitchFamily="34" charset="0"/>
              <a:buChar char="•"/>
            </a:pPr>
            <a:r>
              <a:rPr lang="en-US" sz="1600" b="1">
                <a:solidFill>
                  <a:schemeClr val="tx1">
                    <a:lumMod val="75000"/>
                    <a:lumOff val="25000"/>
                  </a:schemeClr>
                </a:solidFill>
                <a:latin typeface="Arial"/>
                <a:cs typeface="Arial"/>
              </a:rPr>
              <a:t>​Potentiometers (x2): </a:t>
            </a:r>
            <a:r>
              <a:rPr lang="en-US" sz="1600">
                <a:solidFill>
                  <a:schemeClr val="tx1">
                    <a:lumMod val="75000"/>
                    <a:lumOff val="25000"/>
                  </a:schemeClr>
                </a:solidFill>
                <a:latin typeface="Bahnschrift"/>
                <a:cs typeface="Arial"/>
              </a:rPr>
              <a:t>Used to adjust the contrast of the 16x2 LCD screen and to simulate variable sensor inputs (like water quality) during testing.</a:t>
            </a:r>
          </a:p>
          <a:p>
            <a:pPr marL="285750" indent="-285750">
              <a:buFont typeface="Arial" panose="020B0604020202020204" pitchFamily="34" charset="0"/>
              <a:buChar char="•"/>
            </a:pPr>
            <a:r>
              <a:rPr lang="en-US" sz="1600" b="1">
                <a:solidFill>
                  <a:schemeClr val="tx1">
                    <a:lumMod val="75000"/>
                    <a:lumOff val="25000"/>
                  </a:schemeClr>
                </a:solidFill>
                <a:latin typeface="Arial"/>
                <a:cs typeface="Arial"/>
              </a:rPr>
              <a:t>​Resistors: </a:t>
            </a:r>
            <a:r>
              <a:rPr lang="en-US" sz="1600">
                <a:solidFill>
                  <a:schemeClr val="tx1">
                    <a:lumMod val="75000"/>
                    <a:lumOff val="25000"/>
                  </a:schemeClr>
                </a:solidFill>
                <a:latin typeface="Bahnschrift"/>
                <a:cs typeface="Arial"/>
              </a:rPr>
              <a:t>Essential passive components used to limit the current and protect the LEDs from burning out.</a:t>
            </a:r>
          </a:p>
          <a:p>
            <a:pPr marL="285750" indent="-285750">
              <a:buFont typeface="Arial" panose="020B0604020202020204" pitchFamily="34" charset="0"/>
              <a:buChar char="•"/>
            </a:pPr>
            <a:r>
              <a:rPr lang="en-US" sz="1600">
                <a:solidFill>
                  <a:schemeClr val="tx1">
                    <a:lumMod val="75000"/>
                    <a:lumOff val="25000"/>
                  </a:schemeClr>
                </a:solidFill>
                <a:latin typeface="Arial"/>
                <a:cs typeface="Arial"/>
              </a:rPr>
              <a:t>​</a:t>
            </a:r>
            <a:r>
              <a:rPr lang="en-US" sz="1600" b="1">
                <a:solidFill>
                  <a:schemeClr val="tx1">
                    <a:lumMod val="75000"/>
                    <a:lumOff val="25000"/>
                  </a:schemeClr>
                </a:solidFill>
                <a:latin typeface="Arial"/>
                <a:cs typeface="Arial"/>
              </a:rPr>
              <a:t>Microcontroller (e.g., Arduino/ESP32):</a:t>
            </a:r>
            <a:r>
              <a:rPr lang="en-US" sz="1600">
                <a:solidFill>
                  <a:schemeClr val="tx1">
                    <a:lumMod val="75000"/>
                    <a:lumOff val="25000"/>
                  </a:schemeClr>
                </a:solidFill>
                <a:latin typeface="Bahnschrift"/>
                <a:cs typeface="Arial"/>
              </a:rPr>
              <a:t> The main processing board used to read the sensor data and control the display and LEDs.!</a:t>
            </a:r>
          </a:p>
        </p:txBody>
      </p:sp>
      <p:sp>
        <p:nvSpPr>
          <p:cNvPr id="7" name="TextBox 6">
            <a:extLst>
              <a:ext uri="{FF2B5EF4-FFF2-40B4-BE49-F238E27FC236}">
                <a16:creationId xmlns:a16="http://schemas.microsoft.com/office/drawing/2014/main" id="{EDABF1FE-263C-1DC5-EB4C-74DEBB2D7FF6}"/>
              </a:ext>
            </a:extLst>
          </p:cNvPr>
          <p:cNvSpPr txBox="1"/>
          <p:nvPr/>
        </p:nvSpPr>
        <p:spPr>
          <a:xfrm>
            <a:off x="380635" y="4098610"/>
            <a:ext cx="10058400" cy="1569660"/>
          </a:xfrm>
          <a:prstGeom prst="rect">
            <a:avLst/>
          </a:prstGeom>
          <a:noFill/>
        </p:spPr>
        <p:txBody>
          <a:bodyPr wrap="square" lIns="91440" tIns="45720" rIns="91440" bIns="45720" rtlCol="0" anchor="t">
            <a:spAutoFit/>
          </a:bodyPr>
          <a:lstStyle/>
          <a:p>
            <a:r>
              <a:rPr lang="en-US" sz="1600" b="1">
                <a:solidFill>
                  <a:schemeClr val="tx1">
                    <a:lumMod val="75000"/>
                    <a:lumOff val="25000"/>
                  </a:schemeClr>
                </a:solidFill>
                <a:latin typeface="Arial" panose="020B0604020202020204" pitchFamily="34" charset="0"/>
                <a:cs typeface="Arial" panose="020B0604020202020204" pitchFamily="34" charset="0"/>
              </a:rPr>
              <a:t>2. </a:t>
            </a:r>
            <a:r>
              <a:rPr lang="en-US" sz="1600" b="1" u="sng">
                <a:solidFill>
                  <a:schemeClr val="tx1">
                    <a:lumMod val="75000"/>
                    <a:lumOff val="25000"/>
                  </a:schemeClr>
                </a:solidFill>
                <a:latin typeface="Arial" panose="020B0604020202020204" pitchFamily="34" charset="0"/>
                <a:cs typeface="Arial" panose="020B0604020202020204" pitchFamily="34" charset="0"/>
              </a:rPr>
              <a:t>Software:</a:t>
            </a:r>
          </a:p>
          <a:p>
            <a:pPr marL="285750" indent="-285750">
              <a:buFont typeface="Arial" panose="020B0604020202020204" pitchFamily="34" charset="0"/>
              <a:buChar char="•"/>
            </a:pPr>
            <a:r>
              <a:rPr lang="en-US" sz="1600" b="1" err="1">
                <a:solidFill>
                  <a:schemeClr val="tx1">
                    <a:lumMod val="75000"/>
                    <a:lumOff val="25000"/>
                  </a:schemeClr>
                </a:solidFill>
                <a:latin typeface="Arial"/>
                <a:cs typeface="Arial"/>
              </a:rPr>
              <a:t>Wokwi</a:t>
            </a:r>
            <a:r>
              <a:rPr lang="en-US" sz="1600" b="1">
                <a:solidFill>
                  <a:schemeClr val="tx1">
                    <a:lumMod val="75000"/>
                    <a:lumOff val="25000"/>
                  </a:schemeClr>
                </a:solidFill>
                <a:latin typeface="Arial"/>
                <a:cs typeface="Arial"/>
              </a:rPr>
              <a:t> Simulator:</a:t>
            </a:r>
            <a:r>
              <a:rPr lang="en-US" sz="1600">
                <a:solidFill>
                  <a:schemeClr val="tx1">
                    <a:lumMod val="75000"/>
                    <a:lumOff val="25000"/>
                  </a:schemeClr>
                </a:solidFill>
                <a:latin typeface="Arial"/>
                <a:cs typeface="Arial"/>
              </a:rPr>
              <a:t> </a:t>
            </a:r>
            <a:r>
              <a:rPr lang="en-US" sz="1600">
                <a:solidFill>
                  <a:schemeClr val="tx1">
                    <a:lumMod val="75000"/>
                    <a:lumOff val="25000"/>
                  </a:schemeClr>
                </a:solidFill>
                <a:latin typeface="Bahnschrift"/>
                <a:cs typeface="Arial"/>
              </a:rPr>
              <a:t>A web-based electronics simulator used to design, build, and safely test the virtual circuit diagram before physical hardware assembly.</a:t>
            </a:r>
          </a:p>
          <a:p>
            <a:pPr marL="285750" indent="-285750">
              <a:buFont typeface="Arial" panose="020B0604020202020204" pitchFamily="34" charset="0"/>
              <a:buChar char="•"/>
            </a:pPr>
            <a:r>
              <a:rPr lang="en-US" sz="1600">
                <a:solidFill>
                  <a:schemeClr val="tx1">
                    <a:lumMod val="75000"/>
                    <a:lumOff val="25000"/>
                  </a:schemeClr>
                </a:solidFill>
                <a:latin typeface="Arial"/>
                <a:cs typeface="Arial"/>
              </a:rPr>
              <a:t>​</a:t>
            </a:r>
            <a:r>
              <a:rPr lang="en-US" sz="1600" b="1">
                <a:solidFill>
                  <a:schemeClr val="tx1">
                    <a:lumMod val="75000"/>
                    <a:lumOff val="25000"/>
                  </a:schemeClr>
                </a:solidFill>
                <a:latin typeface="Arial"/>
                <a:cs typeface="Arial"/>
              </a:rPr>
              <a:t>C++ (Programming Language):</a:t>
            </a:r>
            <a:r>
              <a:rPr lang="en-US" sz="1600">
                <a:solidFill>
                  <a:schemeClr val="tx1">
                    <a:lumMod val="75000"/>
                    <a:lumOff val="25000"/>
                  </a:schemeClr>
                </a:solidFill>
                <a:latin typeface="Arial"/>
                <a:cs typeface="Arial"/>
              </a:rPr>
              <a:t> </a:t>
            </a:r>
            <a:r>
              <a:rPr lang="en-US" sz="1600">
                <a:solidFill>
                  <a:schemeClr val="tx1">
                    <a:lumMod val="75000"/>
                    <a:lumOff val="25000"/>
                  </a:schemeClr>
                </a:solidFill>
                <a:latin typeface="Bahnschrift"/>
                <a:cs typeface="Arial"/>
              </a:rPr>
              <a:t>Used to write the logic and firmware for the microcontroller, enabling it to calculate water distance, update the LCD, and trigger the LEDs based on specific thresholds.</a:t>
            </a:r>
          </a:p>
          <a:p>
            <a:r>
              <a:rPr lang="en-US" sz="1600" b="1">
                <a:solidFill>
                  <a:schemeClr val="tx1">
                    <a:lumMod val="75000"/>
                    <a:lumOff val="25000"/>
                  </a:schemeClr>
                </a:solidFill>
                <a:latin typeface="Arial"/>
                <a:cs typeface="Arial"/>
              </a:rPr>
              <a:t> </a:t>
            </a:r>
            <a:endParaRPr lang="en-US" sz="1600">
              <a:solidFill>
                <a:schemeClr val="tx1">
                  <a:lumMod val="75000"/>
                  <a:lumOff val="25000"/>
                </a:schemeClr>
              </a:solidFill>
              <a:latin typeface="Arial"/>
              <a:cs typeface="Arial"/>
            </a:endParaRPr>
          </a:p>
        </p:txBody>
      </p:sp>
    </p:spTree>
    <p:extLst>
      <p:ext uri="{BB962C8B-B14F-4D97-AF65-F5344CB8AC3E}">
        <p14:creationId xmlns:p14="http://schemas.microsoft.com/office/powerpoint/2010/main" val="260618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DD6E80-44D5-5A69-B6D6-FDC057991567}"/>
              </a:ext>
            </a:extLst>
          </p:cNvPr>
          <p:cNvSpPr txBox="1"/>
          <p:nvPr/>
        </p:nvSpPr>
        <p:spPr>
          <a:xfrm>
            <a:off x="459306" y="423953"/>
            <a:ext cx="10058400" cy="830997"/>
          </a:xfrm>
          <a:prstGeom prst="rect">
            <a:avLst/>
          </a:prstGeom>
          <a:noFill/>
        </p:spPr>
        <p:txBody>
          <a:bodyPr wrap="square" rtlCol="0">
            <a:spAutoFit/>
          </a:bodyPr>
          <a:lstStyle/>
          <a:p>
            <a:r>
              <a:rPr lang="en-US" sz="4800" i="1" spc="-200">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Feasibility &amp; Viability</a:t>
            </a:r>
            <a:endParaRPr lang="en-IN" sz="4800" i="1" spc="-200">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2E87526-B8B8-6376-837A-DA5E57C12E92}"/>
              </a:ext>
            </a:extLst>
          </p:cNvPr>
          <p:cNvSpPr txBox="1"/>
          <p:nvPr/>
        </p:nvSpPr>
        <p:spPr>
          <a:xfrm>
            <a:off x="358775" y="1613730"/>
            <a:ext cx="11836400" cy="3293209"/>
          </a:xfrm>
          <a:prstGeom prst="rect">
            <a:avLst/>
          </a:prstGeom>
          <a:noFill/>
        </p:spPr>
        <p:txBody>
          <a:bodyPr wrap="square" lIns="91440" tIns="45720" rIns="91440" bIns="45720" rtlCol="0" anchor="t">
            <a:spAutoFit/>
          </a:bodyPr>
          <a:lstStyle/>
          <a:p>
            <a:pPr>
              <a:buFont typeface="Arial" panose="05000000000000000000" pitchFamily="2" charset="2"/>
              <a:buChar char="•"/>
            </a:pPr>
            <a:r>
              <a:rPr lang="en-US" sz="2400" b="1" dirty="0">
                <a:solidFill>
                  <a:srgbClr val="1F1F1F"/>
                </a:solidFill>
                <a:ea typeface="+mn-lt"/>
                <a:cs typeface="+mn-lt"/>
              </a:rPr>
              <a:t> </a:t>
            </a:r>
            <a:r>
              <a:rPr lang="en-US" sz="1600" b="1" dirty="0">
                <a:solidFill>
                  <a:srgbClr val="1F1F1F"/>
                </a:solidFill>
                <a:ea typeface="+mn-lt"/>
                <a:cs typeface="+mn-lt"/>
              </a:rPr>
              <a:t>Technical Feasibility:</a:t>
            </a:r>
            <a:r>
              <a:rPr lang="en-US" sz="1600" dirty="0">
                <a:solidFill>
                  <a:srgbClr val="1F1F1F"/>
                </a:solidFill>
                <a:latin typeface="Bahnschrift"/>
                <a:ea typeface="+mn-lt"/>
                <a:cs typeface="+mn-lt"/>
              </a:rPr>
              <a:t> Highly feasible using low-cost embedded hardware, standard C++ logic, and simple circuit design tested on </a:t>
            </a:r>
            <a:r>
              <a:rPr lang="en-US" sz="1600" dirty="0" err="1">
                <a:solidFill>
                  <a:srgbClr val="1F1F1F"/>
                </a:solidFill>
                <a:latin typeface="Bahnschrift"/>
                <a:ea typeface="+mn-lt"/>
                <a:cs typeface="+mn-lt"/>
              </a:rPr>
              <a:t>Wokwi</a:t>
            </a:r>
            <a:r>
              <a:rPr lang="en-US" sz="1600" dirty="0">
                <a:solidFill>
                  <a:srgbClr val="1F1F1F"/>
                </a:solidFill>
                <a:latin typeface="Bahnschrift"/>
                <a:ea typeface="+mn-lt"/>
                <a:cs typeface="+mn-lt"/>
              </a:rPr>
              <a:t>.</a:t>
            </a:r>
            <a:endParaRPr lang="en-US" sz="1600" dirty="0">
              <a:latin typeface="Bahnschrift"/>
            </a:endParaRPr>
          </a:p>
          <a:p>
            <a:pPr>
              <a:buFont typeface="Arial" panose="05000000000000000000" pitchFamily="2" charset="2"/>
              <a:buChar char="•"/>
            </a:pPr>
            <a:r>
              <a:rPr lang="en-US" sz="1600" b="1" dirty="0">
                <a:solidFill>
                  <a:srgbClr val="1F1F1F"/>
                </a:solidFill>
                <a:ea typeface="+mn-lt"/>
                <a:cs typeface="+mn-lt"/>
              </a:rPr>
              <a:t> Resources Required:</a:t>
            </a:r>
            <a:r>
              <a:rPr lang="en-US" sz="1600" dirty="0">
                <a:solidFill>
                  <a:srgbClr val="1F1F1F"/>
                </a:solidFill>
                <a:ea typeface="+mn-lt"/>
                <a:cs typeface="+mn-lt"/>
              </a:rPr>
              <a:t> </a:t>
            </a:r>
            <a:r>
              <a:rPr lang="en-US" sz="1600" dirty="0">
                <a:solidFill>
                  <a:srgbClr val="1F1F1F"/>
                </a:solidFill>
                <a:latin typeface="Bahnschrift"/>
                <a:ea typeface="+mn-lt"/>
                <a:cs typeface="+mn-lt"/>
              </a:rPr>
              <a:t>HC-SR04 ultrasonic sensor, 16x2 LCD display, 3 LEDs, 2 potentiometers, resistors, microcontroller board, and </a:t>
            </a:r>
            <a:r>
              <a:rPr lang="en-US" sz="1600" dirty="0" err="1">
                <a:solidFill>
                  <a:srgbClr val="1F1F1F"/>
                </a:solidFill>
                <a:latin typeface="Bahnschrift"/>
                <a:ea typeface="+mn-lt"/>
                <a:cs typeface="+mn-lt"/>
              </a:rPr>
              <a:t>Wokwi</a:t>
            </a:r>
            <a:r>
              <a:rPr lang="en-US" sz="1600" dirty="0">
                <a:solidFill>
                  <a:srgbClr val="1F1F1F"/>
                </a:solidFill>
                <a:latin typeface="Bahnschrift"/>
                <a:ea typeface="+mn-lt"/>
                <a:cs typeface="+mn-lt"/>
              </a:rPr>
              <a:t> IDE.</a:t>
            </a:r>
            <a:endParaRPr lang="en-US" sz="1600" dirty="0">
              <a:latin typeface="Bahnschrift"/>
            </a:endParaRPr>
          </a:p>
          <a:p>
            <a:pPr>
              <a:buFont typeface="Arial" panose="05000000000000000000" pitchFamily="2" charset="2"/>
              <a:buChar char="•"/>
            </a:pPr>
            <a:r>
              <a:rPr lang="en-US" sz="1600" b="1" dirty="0">
                <a:solidFill>
                  <a:srgbClr val="1F1F1F"/>
                </a:solidFill>
                <a:ea typeface="+mn-lt"/>
                <a:cs typeface="+mn-lt"/>
              </a:rPr>
              <a:t> Budget:</a:t>
            </a:r>
            <a:r>
              <a:rPr lang="en-US" sz="1600" dirty="0">
                <a:solidFill>
                  <a:srgbClr val="1F1F1F"/>
                </a:solidFill>
                <a:ea typeface="+mn-lt"/>
                <a:cs typeface="+mn-lt"/>
              </a:rPr>
              <a:t> </a:t>
            </a:r>
            <a:r>
              <a:rPr lang="en-US" sz="1600" dirty="0">
                <a:solidFill>
                  <a:srgbClr val="1F1F1F"/>
                </a:solidFill>
                <a:latin typeface="Bahnschrift"/>
                <a:ea typeface="+mn-lt"/>
                <a:cs typeface="+mn-lt"/>
              </a:rPr>
              <a:t>Approximately ₹1,000– ₹2,000 for physical prototyping components; ₹0 using </a:t>
            </a:r>
            <a:r>
              <a:rPr lang="en-US" sz="1600" dirty="0" err="1">
                <a:solidFill>
                  <a:srgbClr val="1F1F1F"/>
                </a:solidFill>
                <a:latin typeface="Bahnschrift"/>
                <a:ea typeface="+mn-lt"/>
                <a:cs typeface="+mn-lt"/>
              </a:rPr>
              <a:t>Wokwi</a:t>
            </a:r>
            <a:r>
              <a:rPr lang="en-US" sz="1600" dirty="0">
                <a:solidFill>
                  <a:srgbClr val="1F1F1F"/>
                </a:solidFill>
                <a:latin typeface="Bahnschrift"/>
                <a:ea typeface="+mn-lt"/>
                <a:cs typeface="+mn-lt"/>
              </a:rPr>
              <a:t> simulation.</a:t>
            </a:r>
            <a:endParaRPr lang="en-US" sz="1600" dirty="0">
              <a:latin typeface="Bahnschrift"/>
            </a:endParaRPr>
          </a:p>
          <a:p>
            <a:pPr>
              <a:buFont typeface="Arial" panose="05000000000000000000" pitchFamily="2" charset="2"/>
              <a:buChar char="•"/>
            </a:pPr>
            <a:r>
              <a:rPr lang="en-US" sz="1600" b="1" dirty="0">
                <a:solidFill>
                  <a:srgbClr val="1F1F1F"/>
                </a:solidFill>
                <a:ea typeface="+mn-lt"/>
                <a:cs typeface="+mn-lt"/>
              </a:rPr>
              <a:t> Time:</a:t>
            </a:r>
            <a:r>
              <a:rPr lang="en-US" sz="1600" dirty="0">
                <a:solidFill>
                  <a:srgbClr val="1F1F1F"/>
                </a:solidFill>
                <a:ea typeface="+mn-lt"/>
                <a:cs typeface="+mn-lt"/>
              </a:rPr>
              <a:t> </a:t>
            </a:r>
            <a:r>
              <a:rPr lang="en-US" sz="1600" dirty="0">
                <a:solidFill>
                  <a:srgbClr val="1F1F1F"/>
                </a:solidFill>
                <a:latin typeface="Bahnschrift"/>
                <a:ea typeface="+mn-lt"/>
                <a:cs typeface="+mn-lt"/>
              </a:rPr>
              <a:t>Yes, the simulation prototype is already implemented, and physical hardware assembly can be completed within 48 hours.</a:t>
            </a:r>
            <a:endParaRPr lang="en-US" sz="1600" dirty="0">
              <a:latin typeface="Bahnschrift"/>
            </a:endParaRPr>
          </a:p>
          <a:p>
            <a:pPr>
              <a:buFont typeface="Arial" panose="05000000000000000000" pitchFamily="2" charset="2"/>
              <a:buChar char="•"/>
            </a:pPr>
            <a:r>
              <a:rPr lang="en-US" sz="1600" b="1" dirty="0">
                <a:solidFill>
                  <a:srgbClr val="1F1F1F"/>
                </a:solidFill>
                <a:ea typeface="+mn-lt"/>
                <a:cs typeface="+mn-lt"/>
              </a:rPr>
              <a:t> Challenge:</a:t>
            </a:r>
            <a:r>
              <a:rPr lang="en-US" sz="1600" dirty="0">
                <a:solidFill>
                  <a:srgbClr val="1F1F1F"/>
                </a:solidFill>
                <a:ea typeface="+mn-lt"/>
                <a:cs typeface="+mn-lt"/>
              </a:rPr>
              <a:t> </a:t>
            </a:r>
            <a:r>
              <a:rPr lang="en-US" sz="1600" dirty="0">
                <a:solidFill>
                  <a:srgbClr val="1F1F1F"/>
                </a:solidFill>
                <a:latin typeface="Bahnschrift"/>
                <a:ea typeface="+mn-lt"/>
                <a:cs typeface="+mn-lt"/>
              </a:rPr>
              <a:t>Digital signal jitter and echo noise causing erratic readings.</a:t>
            </a:r>
            <a:endParaRPr lang="en-US" sz="1600" dirty="0">
              <a:latin typeface="Bahnschrift"/>
            </a:endParaRPr>
          </a:p>
          <a:p>
            <a:pPr>
              <a:buFont typeface="Arial" panose="05000000000000000000" pitchFamily="2" charset="2"/>
              <a:buChar char="•"/>
            </a:pPr>
            <a:r>
              <a:rPr lang="en-US" sz="1600" b="1" dirty="0">
                <a:solidFill>
                  <a:srgbClr val="1F1F1F"/>
                </a:solidFill>
                <a:ea typeface="+mn-lt"/>
                <a:cs typeface="+mn-lt"/>
              </a:rPr>
              <a:t> Solution:</a:t>
            </a:r>
            <a:r>
              <a:rPr lang="en-US" sz="1600" dirty="0">
                <a:solidFill>
                  <a:srgbClr val="1F1F1F"/>
                </a:solidFill>
                <a:latin typeface="Bahnschrift"/>
                <a:ea typeface="+mn-lt"/>
                <a:cs typeface="+mn-lt"/>
              </a:rPr>
              <a:t> Moving-average software filtering in C++ to discard outliers.</a:t>
            </a:r>
            <a:endParaRPr lang="en-US" sz="1600" dirty="0">
              <a:latin typeface="Bahnschrift"/>
            </a:endParaRPr>
          </a:p>
          <a:p>
            <a:pPr>
              <a:buFont typeface="Arial" panose="05000000000000000000" pitchFamily="2" charset="2"/>
              <a:buChar char="•"/>
            </a:pPr>
            <a:r>
              <a:rPr lang="en-US" sz="1600" b="1" dirty="0">
                <a:solidFill>
                  <a:srgbClr val="1F1F1F"/>
                </a:solidFill>
                <a:ea typeface="+mn-lt"/>
                <a:cs typeface="+mn-lt"/>
              </a:rPr>
              <a:t> Future Scope:</a:t>
            </a:r>
            <a:r>
              <a:rPr lang="en-US" sz="1600" dirty="0">
                <a:solidFill>
                  <a:srgbClr val="1F1F1F"/>
                </a:solidFill>
                <a:ea typeface="+mn-lt"/>
                <a:cs typeface="+mn-lt"/>
              </a:rPr>
              <a:t> </a:t>
            </a:r>
            <a:r>
              <a:rPr lang="en-US" sz="1600" dirty="0">
                <a:solidFill>
                  <a:srgbClr val="1F1F1F"/>
                </a:solidFill>
                <a:latin typeface="Bahnschrift"/>
                <a:ea typeface="+mn-lt"/>
                <a:cs typeface="+mn-lt"/>
              </a:rPr>
              <a:t>Integrate IoT cloud connectivity (ESP32/Blynk) for real-time mobile app alerts and add solenoid valves for automated emergency water supply cut-off.</a:t>
            </a:r>
            <a:endParaRPr lang="en-US" sz="1600" dirty="0">
              <a:latin typeface="Bahnschrift"/>
            </a:endParaRPr>
          </a:p>
          <a:p>
            <a:pPr marL="285750" indent="-285750">
              <a:buFont typeface="Wingdings" panose="05000000000000000000" pitchFamily="2" charset="2"/>
              <a:buChar char="q"/>
            </a:pPr>
            <a:endParaRPr lang="en-US" sz="2400" dirty="0">
              <a:solidFill>
                <a:schemeClr val="tx1">
                  <a:lumMod val="76000"/>
                  <a:lumOff val="24000"/>
                </a:schemeClr>
              </a:solidFill>
              <a:latin typeface="Bahnschrift"/>
              <a:cs typeface="Arial"/>
            </a:endParaRPr>
          </a:p>
        </p:txBody>
      </p:sp>
    </p:spTree>
    <p:extLst>
      <p:ext uri="{BB962C8B-B14F-4D97-AF65-F5344CB8AC3E}">
        <p14:creationId xmlns:p14="http://schemas.microsoft.com/office/powerpoint/2010/main" val="1595826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A9D175E-7DE5-6181-6195-1CDBB8A94280}"/>
              </a:ext>
            </a:extLst>
          </p:cNvPr>
          <p:cNvSpPr txBox="1"/>
          <p:nvPr/>
        </p:nvSpPr>
        <p:spPr>
          <a:xfrm>
            <a:off x="379094" y="1491524"/>
            <a:ext cx="11040745" cy="280076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endParaRPr lang="en-US" sz="1600" b="1" dirty="0">
              <a:solidFill>
                <a:schemeClr val="tx1">
                  <a:lumMod val="75000"/>
                  <a:lumOff val="25000"/>
                </a:schemeClr>
              </a:solidFill>
              <a:latin typeface="Arial"/>
              <a:cs typeface="Arial"/>
            </a:endParaRPr>
          </a:p>
          <a:p>
            <a:pPr marL="285750" indent="-285750">
              <a:buFont typeface="Arial" panose="020B0604020202020204" pitchFamily="34" charset="0"/>
              <a:buChar char="•"/>
            </a:pPr>
            <a:r>
              <a:rPr lang="en-US" sz="1600" b="1" dirty="0">
                <a:solidFill>
                  <a:schemeClr val="tx1">
                    <a:lumMod val="75000"/>
                    <a:lumOff val="25000"/>
                  </a:schemeClr>
                </a:solidFill>
                <a:latin typeface="Arial"/>
                <a:cs typeface="Arial"/>
              </a:rPr>
              <a:t>Target Beneficiaries</a:t>
            </a:r>
            <a:r>
              <a:rPr lang="en-US" sz="1600" dirty="0">
                <a:solidFill>
                  <a:schemeClr val="tx1">
                    <a:lumMod val="75000"/>
                    <a:lumOff val="25000"/>
                  </a:schemeClr>
                </a:solidFill>
                <a:latin typeface="Arial"/>
                <a:cs typeface="Arial"/>
              </a:rPr>
              <a:t>: </a:t>
            </a:r>
            <a:r>
              <a:rPr lang="en-US" sz="1600" dirty="0">
                <a:latin typeface="Bahnschrift Light"/>
                <a:cs typeface="Arial"/>
              </a:rPr>
              <a:t>Households, housing societies, commercial buildings, and educational campuses requiring automated water management. </a:t>
            </a:r>
            <a:endParaRPr lang="en-US" sz="1600" dirty="0"/>
          </a:p>
          <a:p>
            <a:pPr marL="285750" indent="-285750">
              <a:buFont typeface="Arial" panose="020B0604020202020204" pitchFamily="34" charset="0"/>
              <a:buChar char="•"/>
            </a:pPr>
            <a:r>
              <a:rPr lang="en-US" sz="1600" b="1" dirty="0">
                <a:solidFill>
                  <a:schemeClr val="tx1">
                    <a:lumMod val="75000"/>
                    <a:lumOff val="25000"/>
                  </a:schemeClr>
                </a:solidFill>
                <a:latin typeface="Arial"/>
                <a:cs typeface="Arial"/>
              </a:rPr>
              <a:t>​Problem Solving &amp; Efficiency</a:t>
            </a:r>
            <a:r>
              <a:rPr lang="en-US" sz="1600" dirty="0">
                <a:solidFill>
                  <a:schemeClr val="tx1">
                    <a:lumMod val="75000"/>
                    <a:lumOff val="25000"/>
                  </a:schemeClr>
                </a:solidFill>
                <a:latin typeface="Arial"/>
                <a:cs typeface="Arial"/>
              </a:rPr>
              <a:t>: </a:t>
            </a:r>
            <a:r>
              <a:rPr lang="en-US" sz="1600" dirty="0">
                <a:solidFill>
                  <a:schemeClr val="tx1">
                    <a:lumMod val="75000"/>
                    <a:lumOff val="25000"/>
                  </a:schemeClr>
                </a:solidFill>
                <a:latin typeface="Bahnschrift"/>
                <a:cs typeface="Arial"/>
              </a:rPr>
              <a:t>Eliminates tank overflows and hidden pipe leaks, reducing overall water wastage by up to 30–40%. </a:t>
            </a:r>
          </a:p>
          <a:p>
            <a:pPr marL="285750" indent="-285750">
              <a:buFont typeface="Arial" panose="020B0604020202020204" pitchFamily="34" charset="0"/>
              <a:buChar char="•"/>
            </a:pPr>
            <a:r>
              <a:rPr lang="en-US" sz="1600" b="1" dirty="0">
                <a:solidFill>
                  <a:schemeClr val="tx1">
                    <a:lumMod val="75000"/>
                    <a:lumOff val="25000"/>
                  </a:schemeClr>
                </a:solidFill>
                <a:latin typeface="Arial"/>
                <a:cs typeface="Arial"/>
              </a:rPr>
              <a:t>​Key Benefits &amp; Safety</a:t>
            </a:r>
            <a:r>
              <a:rPr lang="en-US" sz="1600" dirty="0">
                <a:solidFill>
                  <a:schemeClr val="tx1">
                    <a:lumMod val="75000"/>
                    <a:lumOff val="25000"/>
                  </a:schemeClr>
                </a:solidFill>
                <a:latin typeface="Arial"/>
                <a:cs typeface="Arial"/>
              </a:rPr>
              <a:t>: </a:t>
            </a:r>
            <a:r>
              <a:rPr lang="en-US" sz="1600" dirty="0">
                <a:solidFill>
                  <a:schemeClr val="tx1">
                    <a:lumMod val="75000"/>
                    <a:lumOff val="25000"/>
                  </a:schemeClr>
                </a:solidFill>
                <a:latin typeface="Bahnschrift"/>
                <a:cs typeface="Arial"/>
              </a:rPr>
              <a:t>Provides real-time visual alerts (LCD/LEDs) to prevent property water damage and avoid manual inspection efforts. </a:t>
            </a:r>
          </a:p>
          <a:p>
            <a:pPr marL="285750" indent="-285750">
              <a:buFont typeface="Arial" panose="020B0604020202020204" pitchFamily="34" charset="0"/>
              <a:buChar char="•"/>
            </a:pPr>
            <a:r>
              <a:rPr lang="en-US" sz="1600" dirty="0">
                <a:solidFill>
                  <a:schemeClr val="tx1">
                    <a:lumMod val="75000"/>
                    <a:lumOff val="25000"/>
                  </a:schemeClr>
                </a:solidFill>
                <a:latin typeface="Arial"/>
                <a:cs typeface="Arial"/>
              </a:rPr>
              <a:t>​</a:t>
            </a:r>
            <a:r>
              <a:rPr lang="en-US" sz="1600" b="1" dirty="0">
                <a:solidFill>
                  <a:schemeClr val="tx1">
                    <a:lumMod val="75000"/>
                    <a:lumOff val="25000"/>
                  </a:schemeClr>
                </a:solidFill>
                <a:latin typeface="Arial"/>
                <a:cs typeface="Arial"/>
              </a:rPr>
              <a:t>Impact Measurement</a:t>
            </a:r>
            <a:r>
              <a:rPr lang="en-US" sz="1600" dirty="0">
                <a:solidFill>
                  <a:schemeClr val="tx1">
                    <a:lumMod val="75000"/>
                    <a:lumOff val="25000"/>
                  </a:schemeClr>
                </a:solidFill>
                <a:latin typeface="Arial"/>
                <a:cs typeface="Arial"/>
              </a:rPr>
              <a:t>:</a:t>
            </a:r>
            <a:r>
              <a:rPr lang="en-US" sz="1600" dirty="0">
                <a:solidFill>
                  <a:schemeClr val="tx1">
                    <a:lumMod val="75000"/>
                    <a:lumOff val="25000"/>
                  </a:schemeClr>
                </a:solidFill>
                <a:latin typeface="Bahnschrift"/>
                <a:cs typeface="Arial"/>
              </a:rPr>
              <a:t> Effectiveness is measured by response time (&lt; 2 seconds for sensor alerts) and total liters of water conserved daily. </a:t>
            </a:r>
          </a:p>
          <a:p>
            <a:pPr marL="285750" indent="-285750">
              <a:buFont typeface="Arial" panose="020B0604020202020204" pitchFamily="34" charset="0"/>
              <a:buChar char="•"/>
            </a:pPr>
            <a:r>
              <a:rPr lang="en-US" sz="1600" dirty="0">
                <a:solidFill>
                  <a:schemeClr val="tx1">
                    <a:lumMod val="75000"/>
                    <a:lumOff val="25000"/>
                  </a:schemeClr>
                </a:solidFill>
                <a:latin typeface="Arial"/>
                <a:cs typeface="Arial"/>
              </a:rPr>
              <a:t>​</a:t>
            </a:r>
            <a:r>
              <a:rPr lang="en-US" sz="1600" b="1" dirty="0">
                <a:solidFill>
                  <a:schemeClr val="tx1">
                    <a:lumMod val="75000"/>
                    <a:lumOff val="25000"/>
                  </a:schemeClr>
                </a:solidFill>
                <a:latin typeface="Arial"/>
                <a:cs typeface="Arial"/>
              </a:rPr>
              <a:t>Limitations &amp; Future Scope</a:t>
            </a:r>
            <a:r>
              <a:rPr lang="en-US" sz="1600" dirty="0">
                <a:solidFill>
                  <a:schemeClr val="tx1">
                    <a:lumMod val="75000"/>
                    <a:lumOff val="25000"/>
                  </a:schemeClr>
                </a:solidFill>
                <a:latin typeface="Arial"/>
                <a:cs typeface="Arial"/>
              </a:rPr>
              <a:t>: </a:t>
            </a:r>
            <a:r>
              <a:rPr lang="en-US" sz="1600" dirty="0">
                <a:solidFill>
                  <a:schemeClr val="tx1">
                    <a:lumMod val="75000"/>
                    <a:lumOff val="25000"/>
                  </a:schemeClr>
                </a:solidFill>
                <a:latin typeface="Bahnschrift"/>
                <a:cs typeface="Arial"/>
              </a:rPr>
              <a:t>Currently dependent on local hardware connections; future iterations will add IoT cloud logging and solar power.</a:t>
            </a:r>
          </a:p>
        </p:txBody>
      </p:sp>
      <p:sp>
        <p:nvSpPr>
          <p:cNvPr id="3" name="TextBox 2">
            <a:extLst>
              <a:ext uri="{FF2B5EF4-FFF2-40B4-BE49-F238E27FC236}">
                <a16:creationId xmlns:a16="http://schemas.microsoft.com/office/drawing/2014/main" id="{F2A783D8-58B4-1EEB-AE3E-C868D552022B}"/>
              </a:ext>
            </a:extLst>
          </p:cNvPr>
          <p:cNvSpPr txBox="1"/>
          <p:nvPr/>
        </p:nvSpPr>
        <p:spPr>
          <a:xfrm>
            <a:off x="379095" y="431974"/>
            <a:ext cx="10058400" cy="830997"/>
          </a:xfrm>
          <a:prstGeom prst="rect">
            <a:avLst/>
          </a:prstGeom>
          <a:noFill/>
        </p:spPr>
        <p:txBody>
          <a:bodyPr wrap="square" rtlCol="0">
            <a:spAutoFit/>
          </a:bodyPr>
          <a:lstStyle/>
          <a:p>
            <a:r>
              <a:rPr lang="en-US" sz="4800" i="1" spc="-200">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Impact &amp; Benefits</a:t>
            </a:r>
            <a:endParaRPr lang="en-IN" sz="4800" i="1" spc="-200">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3134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E14B54-69BF-A31E-9B3A-01E96197BD5E}"/>
              </a:ext>
            </a:extLst>
          </p:cNvPr>
          <p:cNvSpPr txBox="1"/>
          <p:nvPr/>
        </p:nvSpPr>
        <p:spPr>
          <a:xfrm>
            <a:off x="2369574" y="1490008"/>
            <a:ext cx="7452851" cy="1938992"/>
          </a:xfrm>
          <a:prstGeom prst="rect">
            <a:avLst/>
          </a:prstGeom>
          <a:noFill/>
        </p:spPr>
        <p:txBody>
          <a:bodyPr wrap="square" lIns="91440" tIns="45720" rIns="91440" bIns="45720" rtlCol="0" anchor="t">
            <a:spAutoFit/>
          </a:bodyPr>
          <a:lstStyle/>
          <a:p>
            <a:pPr algn="ctr"/>
            <a:r>
              <a:rPr lang="en-IN" i="1" dirty="0">
                <a:solidFill>
                  <a:schemeClr val="bg2"/>
                </a:solidFill>
                <a:effectLst>
                  <a:outerShdw blurRad="38100" dist="38100" dir="2700000" algn="tl">
                    <a:srgbClr val="000000">
                      <a:alpha val="43137"/>
                    </a:srgbClr>
                  </a:outerShdw>
                </a:effectLst>
              </a:rPr>
              <a:t> </a:t>
            </a:r>
            <a:r>
              <a:rPr lang="en-IN" sz="6000" i="1" dirty="0">
                <a:solidFill>
                  <a:schemeClr val="bg2"/>
                </a:solidFill>
                <a:effectLst>
                  <a:outerShdw blurRad="38100" dist="38100" dir="2700000" algn="tl">
                    <a:srgbClr val="000000">
                      <a:alpha val="43137"/>
                    </a:srgbClr>
                  </a:outerShdw>
                </a:effectLst>
              </a:rPr>
              <a:t> </a:t>
            </a:r>
            <a:r>
              <a:rPr lang="en-IN" sz="6000" i="1" dirty="0">
                <a:effectLst>
                  <a:outerShdw blurRad="38100" dist="38100" dir="2700000" algn="tl">
                    <a:srgbClr val="000000">
                      <a:alpha val="43137"/>
                    </a:srgbClr>
                  </a:outerShdw>
                </a:effectLst>
              </a:rPr>
              <a:t>                          </a:t>
            </a:r>
            <a:r>
              <a:rPr lang="en-IN" sz="6000" b="1" i="1" dirty="0">
                <a:effectLst>
                  <a:outerShdw blurRad="38100" dist="38100" dir="2700000" algn="tl">
                    <a:srgbClr val="000000">
                      <a:alpha val="43137"/>
                    </a:srgbClr>
                  </a:outerShdw>
                </a:effectLst>
              </a:rPr>
              <a:t> THANK YOU</a:t>
            </a:r>
            <a:r>
              <a:rPr lang="en-IN" sz="4800" b="1" i="1" dirty="0">
                <a:solidFill>
                  <a:schemeClr val="bg1">
                    <a:lumMod val="85000"/>
                  </a:schemeClr>
                </a:solidFill>
                <a:effectLst>
                  <a:outerShdw blurRad="38100" dist="38100" dir="2700000" algn="tl">
                    <a:srgbClr val="000000">
                      <a:alpha val="43137"/>
                    </a:srgbClr>
                  </a:outerShdw>
                </a:effectLst>
              </a:rPr>
              <a:t> </a:t>
            </a:r>
          </a:p>
        </p:txBody>
      </p:sp>
      <p:sp>
        <p:nvSpPr>
          <p:cNvPr id="6" name="TextBox 5">
            <a:extLst>
              <a:ext uri="{FF2B5EF4-FFF2-40B4-BE49-F238E27FC236}">
                <a16:creationId xmlns:a16="http://schemas.microsoft.com/office/drawing/2014/main" id="{5C829483-1255-3557-69B1-DBA3A838573E}"/>
              </a:ext>
            </a:extLst>
          </p:cNvPr>
          <p:cNvSpPr txBox="1"/>
          <p:nvPr/>
        </p:nvSpPr>
        <p:spPr>
          <a:xfrm>
            <a:off x="623772" y="6316148"/>
            <a:ext cx="4741335" cy="253916"/>
          </a:xfrm>
          <a:prstGeom prst="rect">
            <a:avLst/>
          </a:prstGeom>
          <a:noFill/>
        </p:spPr>
        <p:txBody>
          <a:bodyPr wrap="square" rtlCol="0">
            <a:spAutoFit/>
          </a:bodyPr>
          <a:lstStyle/>
          <a:p>
            <a:r>
              <a:rPr lang="en-IN" sz="1050" dirty="0">
                <a:solidFill>
                  <a:schemeClr val="bg1">
                    <a:lumMod val="85000"/>
                  </a:schemeClr>
                </a:solidFill>
              </a:rPr>
              <a:t>Ultrasonic Water Level Indicator &amp; Monitoring System</a:t>
            </a:r>
          </a:p>
        </p:txBody>
      </p:sp>
      <p:pic>
        <p:nvPicPr>
          <p:cNvPr id="3" name="Graphic 2" descr="Water with solid fill">
            <a:extLst>
              <a:ext uri="{FF2B5EF4-FFF2-40B4-BE49-F238E27FC236}">
                <a16:creationId xmlns:a16="http://schemas.microsoft.com/office/drawing/2014/main" id="{4915AAB0-EC03-1D54-6CE9-8F5D41A5D6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4448" y="6289193"/>
            <a:ext cx="280871" cy="280871"/>
          </a:xfrm>
          <a:prstGeom prst="rect">
            <a:avLst/>
          </a:prstGeom>
        </p:spPr>
      </p:pic>
    </p:spTree>
    <p:extLst>
      <p:ext uri="{BB962C8B-B14F-4D97-AF65-F5344CB8AC3E}">
        <p14:creationId xmlns:p14="http://schemas.microsoft.com/office/powerpoint/2010/main" val="3439374628"/>
      </p:ext>
    </p:extLst>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Bjorn">
      <a:majorFont>
        <a:latin typeface="Neue Haas Grotesk Text Pro"/>
        <a:ea typeface=""/>
        <a:cs typeface=""/>
      </a:majorFont>
      <a:minorFont>
        <a:latin typeface="Neue Haas Grotesk Text Pro"/>
        <a:ea typeface=""/>
        <a:cs typeface=""/>
      </a:minorFont>
    </a:fontScheme>
    <a:fmtScheme name="Bjor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58E17CF6-1BD7-439C-B13C-57B478723B62}" vid="{983041D9-13D3-43F3-B671-446E6DAE8C90}"/>
    </a:ext>
  </a:extLst>
</a:theme>
</file>

<file path=docProps/app.xml><?xml version="1.0" encoding="utf-8"?>
<Properties xmlns="http://schemas.openxmlformats.org/officeDocument/2006/extended-properties" xmlns:vt="http://schemas.openxmlformats.org/officeDocument/2006/docPropsVTypes">
  <TotalTime>9</TotalTime>
  <Words>910</Words>
  <Application>Microsoft Office PowerPoint</Application>
  <PresentationFormat>Widescreen</PresentationFormat>
  <Paragraphs>53</Paragraphs>
  <Slides>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Aptos</vt:lpstr>
      <vt:lpstr>Arial</vt:lpstr>
      <vt:lpstr>Arial Rounded MT Bold</vt:lpstr>
      <vt:lpstr>Bahnschrift</vt:lpstr>
      <vt:lpstr>Bahnschrift Light</vt:lpstr>
      <vt:lpstr>Cooper Black</vt:lpstr>
      <vt:lpstr>Neue Haas Grotesk Text Pro</vt:lpstr>
      <vt:lpstr>System Font Regular</vt:lpstr>
      <vt:lpstr>Wingdings</vt:lpstr>
      <vt:lpstr>Bjorn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Abhinandan Sadhukhan</dc:creator>
  <cp:lastModifiedBy>Prantik Sengupta</cp:lastModifiedBy>
  <cp:revision>3</cp:revision>
  <dcterms:created xsi:type="dcterms:W3CDTF">2026-09-26T04:27:50Z</dcterms:created>
  <dcterms:modified xsi:type="dcterms:W3CDTF">2026-09-28T10:19:05Z</dcterms:modified>
</cp:coreProperties>
</file>